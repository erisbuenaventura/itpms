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7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6" r:id="rId13"/>
  </p:sldIdLst>
  <p:sldSz cx="18288000" cy="10287000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Bold" panose="00000800000000000000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42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33BB6B-CD1F-47E7-BF10-23C4E299F89F}" v="45" dt="2026-06-08T05:39:32.61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s SavePlus" userId="322ab7189f453779" providerId="LiveId" clId="{45BB4034-6873-4900-8D6A-6934447975A2}"/>
    <pc:docChg chg="undo custSel addSld delSld modSld">
      <pc:chgData name="Eris SavePlus" userId="322ab7189f453779" providerId="LiveId" clId="{45BB4034-6873-4900-8D6A-6934447975A2}" dt="2026-06-08T05:40:26.838" v="1079" actId="20577"/>
      <pc:docMkLst>
        <pc:docMk/>
      </pc:docMkLst>
      <pc:sldChg chg="modSp mod">
        <pc:chgData name="Eris SavePlus" userId="322ab7189f453779" providerId="LiveId" clId="{45BB4034-6873-4900-8D6A-6934447975A2}" dt="2026-06-05T03:54:26.329" v="41" actId="20577"/>
        <pc:sldMkLst>
          <pc:docMk/>
          <pc:sldMk cId="0" sldId="256"/>
        </pc:sldMkLst>
        <pc:spChg chg="mod">
          <ac:chgData name="Eris SavePlus" userId="322ab7189f453779" providerId="LiveId" clId="{45BB4034-6873-4900-8D6A-6934447975A2}" dt="2026-06-05T03:54:26.329" v="41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Eris SavePlus" userId="322ab7189f453779" providerId="LiveId" clId="{45BB4034-6873-4900-8D6A-6934447975A2}" dt="2026-06-05T08:39:28.315" v="868" actId="1038"/>
        <pc:sldMkLst>
          <pc:docMk/>
          <pc:sldMk cId="0" sldId="257"/>
        </pc:sldMkLst>
        <pc:spChg chg="mod">
          <ac:chgData name="Eris SavePlus" userId="322ab7189f453779" providerId="LiveId" clId="{45BB4034-6873-4900-8D6A-6934447975A2}" dt="2026-06-05T08:39:28.315" v="868" actId="1038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Eris SavePlus" userId="322ab7189f453779" providerId="LiveId" clId="{45BB4034-6873-4900-8D6A-6934447975A2}" dt="2026-06-05T07:53:07.905" v="791" actId="113"/>
        <pc:sldMkLst>
          <pc:docMk/>
          <pc:sldMk cId="0" sldId="261"/>
        </pc:sldMkLst>
        <pc:spChg chg="mod">
          <ac:chgData name="Eris SavePlus" userId="322ab7189f453779" providerId="LiveId" clId="{45BB4034-6873-4900-8D6A-6934447975A2}" dt="2026-06-05T05:10:54.568" v="130" actId="1038"/>
          <ac:spMkLst>
            <pc:docMk/>
            <pc:sldMk cId="0" sldId="261"/>
            <ac:spMk id="4" creationId="{00000000-0000-0000-0000-000000000000}"/>
          </ac:spMkLst>
        </pc:spChg>
        <pc:spChg chg="mod">
          <ac:chgData name="Eris SavePlus" userId="322ab7189f453779" providerId="LiveId" clId="{45BB4034-6873-4900-8D6A-6934447975A2}" dt="2026-06-05T05:10:44.177" v="104" actId="2711"/>
          <ac:spMkLst>
            <pc:docMk/>
            <pc:sldMk cId="0" sldId="261"/>
            <ac:spMk id="5" creationId="{00000000-0000-0000-0000-000000000000}"/>
          </ac:spMkLst>
        </pc:spChg>
        <pc:spChg chg="mod">
          <ac:chgData name="Eris SavePlus" userId="322ab7189f453779" providerId="LiveId" clId="{45BB4034-6873-4900-8D6A-6934447975A2}" dt="2026-06-05T07:53:07.905" v="791" actId="113"/>
          <ac:spMkLst>
            <pc:docMk/>
            <pc:sldMk cId="0" sldId="261"/>
            <ac:spMk id="6" creationId="{00000000-0000-0000-0000-000000000000}"/>
          </ac:spMkLst>
        </pc:spChg>
      </pc:sldChg>
      <pc:sldChg chg="addSp delSp modSp mod">
        <pc:chgData name="Eris SavePlus" userId="322ab7189f453779" providerId="LiveId" clId="{45BB4034-6873-4900-8D6A-6934447975A2}" dt="2026-06-08T05:27:11.738" v="942" actId="20577"/>
        <pc:sldMkLst>
          <pc:docMk/>
          <pc:sldMk cId="0" sldId="262"/>
        </pc:sldMkLst>
        <pc:spChg chg="add del">
          <ac:chgData name="Eris SavePlus" userId="322ab7189f453779" providerId="LiveId" clId="{45BB4034-6873-4900-8D6A-6934447975A2}" dt="2026-06-05T05:39:09.497" v="285" actId="478"/>
          <ac:spMkLst>
            <pc:docMk/>
            <pc:sldMk cId="0" sldId="262"/>
            <ac:spMk id="3" creationId="{00000000-0000-0000-0000-000000000000}"/>
          </ac:spMkLst>
        </pc:spChg>
        <pc:graphicFrameChg chg="add mod modGraphic">
          <ac:chgData name="Eris SavePlus" userId="322ab7189f453779" providerId="LiveId" clId="{45BB4034-6873-4900-8D6A-6934447975A2}" dt="2026-06-08T05:27:11.738" v="942" actId="20577"/>
          <ac:graphicFrameMkLst>
            <pc:docMk/>
            <pc:sldMk cId="0" sldId="262"/>
            <ac:graphicFrameMk id="11" creationId="{A4B35B01-A21E-A484-339E-D6AB57A90D31}"/>
          </ac:graphicFrameMkLst>
        </pc:graphicFrameChg>
      </pc:sldChg>
      <pc:sldChg chg="addSp delSp modSp mod">
        <pc:chgData name="Eris SavePlus" userId="322ab7189f453779" providerId="LiveId" clId="{45BB4034-6873-4900-8D6A-6934447975A2}" dt="2026-06-08T05:28:08.339" v="959" actId="20577"/>
        <pc:sldMkLst>
          <pc:docMk/>
          <pc:sldMk cId="0" sldId="263"/>
        </pc:sldMkLst>
        <pc:spChg chg="mod">
          <ac:chgData name="Eris SavePlus" userId="322ab7189f453779" providerId="LiveId" clId="{45BB4034-6873-4900-8D6A-6934447975A2}" dt="2026-06-05T05:48:36.797" v="403" actId="1037"/>
          <ac:spMkLst>
            <pc:docMk/>
            <pc:sldMk cId="0" sldId="263"/>
            <ac:spMk id="4" creationId="{00000000-0000-0000-0000-000000000000}"/>
          </ac:spMkLst>
        </pc:spChg>
        <pc:spChg chg="mod">
          <ac:chgData name="Eris SavePlus" userId="322ab7189f453779" providerId="LiveId" clId="{45BB4034-6873-4900-8D6A-6934447975A2}" dt="2026-06-05T05:48:27.579" v="399" actId="255"/>
          <ac:spMkLst>
            <pc:docMk/>
            <pc:sldMk cId="0" sldId="263"/>
            <ac:spMk id="5" creationId="{00000000-0000-0000-0000-000000000000}"/>
          </ac:spMkLst>
        </pc:spChg>
        <pc:graphicFrameChg chg="add mod modGraphic">
          <ac:chgData name="Eris SavePlus" userId="322ab7189f453779" providerId="LiveId" clId="{45BB4034-6873-4900-8D6A-6934447975A2}" dt="2026-06-08T05:28:08.339" v="959" actId="20577"/>
          <ac:graphicFrameMkLst>
            <pc:docMk/>
            <pc:sldMk cId="0" sldId="263"/>
            <ac:graphicFrameMk id="13" creationId="{13FC67A4-4422-FE9A-6B79-B79C4A6D10F5}"/>
          </ac:graphicFrameMkLst>
        </pc:graphicFrameChg>
      </pc:sldChg>
      <pc:sldChg chg="addSp delSp modSp mod">
        <pc:chgData name="Eris SavePlus" userId="322ab7189f453779" providerId="LiveId" clId="{45BB4034-6873-4900-8D6A-6934447975A2}" dt="2026-06-08T05:29:22.609" v="960" actId="20577"/>
        <pc:sldMkLst>
          <pc:docMk/>
          <pc:sldMk cId="0" sldId="264"/>
        </pc:sldMkLst>
        <pc:spChg chg="add mod">
          <ac:chgData name="Eris SavePlus" userId="322ab7189f453779" providerId="LiveId" clId="{45BB4034-6873-4900-8D6A-6934447975A2}" dt="2026-06-08T05:29:22.609" v="960" actId="20577"/>
          <ac:spMkLst>
            <pc:docMk/>
            <pc:sldMk cId="0" sldId="264"/>
            <ac:spMk id="9" creationId="{BB0ACD10-5CEA-4C81-C19C-A5C3A6F7CBE6}"/>
          </ac:spMkLst>
        </pc:spChg>
      </pc:sldChg>
      <pc:sldChg chg="addSp delSp modSp mod">
        <pc:chgData name="Eris SavePlus" userId="322ab7189f453779" providerId="LiveId" clId="{45BB4034-6873-4900-8D6A-6934447975A2}" dt="2026-06-08T05:36:54.868" v="1056" actId="255"/>
        <pc:sldMkLst>
          <pc:docMk/>
          <pc:sldMk cId="0" sldId="265"/>
        </pc:sldMkLst>
        <pc:graphicFrameChg chg="add mod modGraphic">
          <ac:chgData name="Eris SavePlus" userId="322ab7189f453779" providerId="LiveId" clId="{45BB4034-6873-4900-8D6A-6934447975A2}" dt="2026-06-08T05:36:54.868" v="1056" actId="255"/>
          <ac:graphicFrameMkLst>
            <pc:docMk/>
            <pc:sldMk cId="0" sldId="265"/>
            <ac:graphicFrameMk id="6" creationId="{E36395B7-0C52-FBC0-0A6C-5736579670EF}"/>
          </ac:graphicFrameMkLst>
        </pc:graphicFrameChg>
      </pc:sldChg>
      <pc:sldChg chg="addSp delSp modSp add del mod">
        <pc:chgData name="Eris SavePlus" userId="322ab7189f453779" providerId="LiveId" clId="{45BB4034-6873-4900-8D6A-6934447975A2}" dt="2026-06-08T05:37:35.773" v="1069" actId="20577"/>
        <pc:sldMkLst>
          <pc:docMk/>
          <pc:sldMk cId="0" sldId="267"/>
        </pc:sldMkLst>
        <pc:graphicFrameChg chg="add mod modGraphic">
          <ac:chgData name="Eris SavePlus" userId="322ab7189f453779" providerId="LiveId" clId="{45BB4034-6873-4900-8D6A-6934447975A2}" dt="2026-06-08T05:37:35.773" v="1069" actId="20577"/>
          <ac:graphicFrameMkLst>
            <pc:docMk/>
            <pc:sldMk cId="0" sldId="267"/>
            <ac:graphicFrameMk id="5" creationId="{BFAEC1B0-3816-9E9A-3A3B-3D6B9C51383A}"/>
          </ac:graphicFrameMkLst>
        </pc:graphicFrameChg>
      </pc:sldChg>
      <pc:sldChg chg="addSp delSp modSp mod">
        <pc:chgData name="Eris SavePlus" userId="322ab7189f453779" providerId="LiveId" clId="{45BB4034-6873-4900-8D6A-6934447975A2}" dt="2026-06-08T05:39:21.060" v="1073" actId="14734"/>
        <pc:sldMkLst>
          <pc:docMk/>
          <pc:sldMk cId="0" sldId="268"/>
        </pc:sldMkLst>
        <pc:graphicFrameChg chg="add mod modGraphic">
          <ac:chgData name="Eris SavePlus" userId="322ab7189f453779" providerId="LiveId" clId="{45BB4034-6873-4900-8D6A-6934447975A2}" dt="2026-06-08T05:39:21.060" v="1073" actId="14734"/>
          <ac:graphicFrameMkLst>
            <pc:docMk/>
            <pc:sldMk cId="0" sldId="268"/>
            <ac:graphicFrameMk id="6" creationId="{35DCB8E2-9250-8044-65C8-94121BD8B016}"/>
          </ac:graphicFrameMkLst>
        </pc:graphicFrameChg>
      </pc:sldChg>
      <pc:sldChg chg="addSp delSp modSp mod">
        <pc:chgData name="Eris SavePlus" userId="322ab7189f453779" providerId="LiveId" clId="{45BB4034-6873-4900-8D6A-6934447975A2}" dt="2026-06-08T05:40:26.838" v="1079" actId="20577"/>
        <pc:sldMkLst>
          <pc:docMk/>
          <pc:sldMk cId="0" sldId="269"/>
        </pc:sldMkLst>
        <pc:spChg chg="add mod">
          <ac:chgData name="Eris SavePlus" userId="322ab7189f453779" providerId="LiveId" clId="{45BB4034-6873-4900-8D6A-6934447975A2}" dt="2026-06-08T05:40:26.838" v="1079" actId="20577"/>
          <ac:spMkLst>
            <pc:docMk/>
            <pc:sldMk cId="0" sldId="269"/>
            <ac:spMk id="7" creationId="{10CF7E9B-D785-8251-853A-D92A37B6C7C7}"/>
          </ac:spMkLst>
        </pc:spChg>
      </pc:sldChg>
      <pc:sldChg chg="addSp delSp modSp new mod">
        <pc:chgData name="Eris SavePlus" userId="322ab7189f453779" providerId="LiveId" clId="{45BB4034-6873-4900-8D6A-6934447975A2}" dt="2026-06-05T07:43:32.063" v="718" actId="1076"/>
        <pc:sldMkLst>
          <pc:docMk/>
          <pc:sldMk cId="1417681728" sldId="277"/>
        </pc:sldMkLst>
        <pc:spChg chg="add mod">
          <ac:chgData name="Eris SavePlus" userId="322ab7189f453779" providerId="LiveId" clId="{45BB4034-6873-4900-8D6A-6934447975A2}" dt="2026-06-05T07:11:24.993" v="703" actId="20577"/>
          <ac:spMkLst>
            <pc:docMk/>
            <pc:sldMk cId="1417681728" sldId="277"/>
            <ac:spMk id="4" creationId="{7E308550-ED74-49CE-4F13-20E438EC11B1}"/>
          </ac:spMkLst>
        </pc:spChg>
        <pc:spChg chg="add mod">
          <ac:chgData name="Eris SavePlus" userId="322ab7189f453779" providerId="LiveId" clId="{45BB4034-6873-4900-8D6A-6934447975A2}" dt="2026-06-05T07:11:40.369" v="712" actId="207"/>
          <ac:spMkLst>
            <pc:docMk/>
            <pc:sldMk cId="1417681728" sldId="277"/>
            <ac:spMk id="5" creationId="{22226FA1-8659-EE67-FED2-4DCA11DC175B}"/>
          </ac:spMkLst>
        </pc:spChg>
        <pc:picChg chg="add mod">
          <ac:chgData name="Eris SavePlus" userId="322ab7189f453779" providerId="LiveId" clId="{45BB4034-6873-4900-8D6A-6934447975A2}" dt="2026-06-05T07:43:32.063" v="718" actId="1076"/>
          <ac:picMkLst>
            <pc:docMk/>
            <pc:sldMk cId="1417681728" sldId="277"/>
            <ac:picMk id="12" creationId="{D6304002-1F96-F925-B521-DC9D8E9E70F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347F9-DA28-4AAB-B72D-1C4591BE0C4A}" type="datetimeFigureOut">
              <a:rPr lang="en-PH" smtClean="0"/>
              <a:t>12/08/2026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C72BD-D9BF-442C-9B3F-6E27C4C1582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1685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C72BD-D9BF-442C-9B3F-6E27C4C1582A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39860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">
            <a:extLst>
              <a:ext uri="{FF2B5EF4-FFF2-40B4-BE49-F238E27FC236}">
                <a16:creationId xmlns:a16="http://schemas.microsoft.com/office/drawing/2014/main" id="{658AFB9E-E563-2A19-4C65-DE6E2C4BB084}"/>
              </a:ext>
            </a:extLst>
          </p:cNvPr>
          <p:cNvSpPr/>
          <p:nvPr/>
        </p:nvSpPr>
        <p:spPr>
          <a:xfrm>
            <a:off x="6670811" y="-1621909"/>
            <a:ext cx="12245390" cy="13530818"/>
          </a:xfrm>
          <a:custGeom>
            <a:avLst/>
            <a:gdLst/>
            <a:ahLst/>
            <a:cxnLst/>
            <a:rect l="l" t="t" r="r" b="b"/>
            <a:pathLst>
              <a:path w="12245390" h="13530818">
                <a:moveTo>
                  <a:pt x="0" y="0"/>
                </a:moveTo>
                <a:lnTo>
                  <a:pt x="12245390" y="0"/>
                </a:lnTo>
                <a:lnTo>
                  <a:pt x="12245390" y="13530818"/>
                </a:lnTo>
                <a:lnTo>
                  <a:pt x="0" y="135308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F5CF9BCF-E96B-B2EC-30E5-DD655F5B49C9}"/>
              </a:ext>
            </a:extLst>
          </p:cNvPr>
          <p:cNvSpPr/>
          <p:nvPr/>
        </p:nvSpPr>
        <p:spPr>
          <a:xfrm>
            <a:off x="1028700" y="1542050"/>
            <a:ext cx="5953803" cy="1870280"/>
          </a:xfrm>
          <a:custGeom>
            <a:avLst/>
            <a:gdLst/>
            <a:ahLst/>
            <a:cxnLst/>
            <a:rect l="l" t="t" r="r" b="b"/>
            <a:pathLst>
              <a:path w="5953803" h="1870280">
                <a:moveTo>
                  <a:pt x="0" y="0"/>
                </a:moveTo>
                <a:lnTo>
                  <a:pt x="5953803" y="0"/>
                </a:lnTo>
                <a:lnTo>
                  <a:pt x="5953803" y="1870280"/>
                </a:lnTo>
                <a:lnTo>
                  <a:pt x="0" y="1870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140"/>
            </a:stretch>
          </a:blipFill>
        </p:spPr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B9AD692B-2270-38FE-9763-5DF6E210F62B}"/>
              </a:ext>
            </a:extLst>
          </p:cNvPr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51" t="-1040" b="-1040"/>
            </a:stretch>
          </a:blipFill>
        </p:spPr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BADDDCE9-E9EB-EDAF-2448-72437A67B81E}"/>
              </a:ext>
            </a:extLst>
          </p:cNvPr>
          <p:cNvSpPr txBox="1"/>
          <p:nvPr/>
        </p:nvSpPr>
        <p:spPr>
          <a:xfrm>
            <a:off x="891130" y="3680241"/>
            <a:ext cx="16786906" cy="445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13"/>
              </a:lnSpc>
            </a:pPr>
            <a:r>
              <a:rPr lang="en-US" sz="14018" b="1" spc="-1205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MANAGEMENT </a:t>
            </a:r>
            <a:r>
              <a:rPr lang="en-US" sz="14018" b="1" spc="-1205" dirty="0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COMMITTEE REVIEW</a:t>
            </a:r>
          </a:p>
          <a:p>
            <a:pPr algn="l">
              <a:lnSpc>
                <a:spcPts val="11263"/>
              </a:lnSpc>
            </a:pPr>
            <a:r>
              <a:rPr lang="en-US" sz="15018" b="1" spc="-1291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B2D1B015-9F49-0F31-7456-C157A64DDD19}"/>
              </a:ext>
            </a:extLst>
          </p:cNvPr>
          <p:cNvSpPr txBox="1"/>
          <p:nvPr/>
        </p:nvSpPr>
        <p:spPr>
          <a:xfrm>
            <a:off x="1141979" y="9201150"/>
            <a:ext cx="3233861" cy="354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93FB4"/>
                </a:solidFill>
                <a:latin typeface="Poppins"/>
                <a:ea typeface="Poppins"/>
                <a:cs typeface="Poppins"/>
                <a:sym typeface="Poppins"/>
              </a:rPr>
              <a:t>AUGUST 17, 2026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8305A2CD-A448-5568-5A6D-1C76109771F8}"/>
              </a:ext>
            </a:extLst>
          </p:cNvPr>
          <p:cNvSpPr txBox="1"/>
          <p:nvPr/>
        </p:nvSpPr>
        <p:spPr>
          <a:xfrm>
            <a:off x="1141979" y="6271331"/>
            <a:ext cx="8142603" cy="157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MONTHLY DEPARTMENTAL PERFORMANCE REVIEW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093FB4"/>
                </a:solidFill>
                <a:latin typeface="Poppins"/>
                <a:ea typeface="Poppins"/>
                <a:cs typeface="Poppins"/>
                <a:sym typeface="Poppins"/>
              </a:rPr>
              <a:t>COVERED PERIOD: JUNE-JULY</a:t>
            </a: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093FB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93FB4"/>
                </a:solidFill>
                <a:latin typeface="Poppins"/>
                <a:ea typeface="Poppins"/>
                <a:cs typeface="Poppins"/>
                <a:sym typeface="Poppins"/>
              </a:rPr>
              <a:t>PRESENTED BY: </a:t>
            </a:r>
            <a:r>
              <a:rPr lang="en-US" sz="2100" dirty="0">
                <a:solidFill>
                  <a:srgbClr val="093FB4"/>
                </a:solidFill>
                <a:latin typeface="Poppins"/>
                <a:ea typeface="Poppins"/>
                <a:cs typeface="Poppins"/>
                <a:sym typeface="Poppins"/>
              </a:rPr>
              <a:t>ERIS ALYANA O. BUENAVENTURA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1" t="-1040" b="-104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28220" y="2515234"/>
            <a:ext cx="15102380" cy="3811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tx2">
                    <a:lumMod val="50000"/>
                  </a:schemeClr>
                </a:solidFill>
              </a:rPr>
              <a:t>Present IT project status, progress, and priorities.</a:t>
            </a:r>
            <a:endParaRPr lang="en-PH" sz="2800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tx2">
                    <a:lumMod val="50000"/>
                  </a:schemeClr>
                </a:solidFill>
              </a:rPr>
              <a:t>Review completed, ongoing, on-hold, and upcoming initiatives.</a:t>
            </a:r>
            <a:endParaRPr lang="en-PH" sz="2800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tx2">
                    <a:lumMod val="50000"/>
                  </a:schemeClr>
                </a:solidFill>
              </a:rPr>
              <a:t>Identify issues, risks, and project bottlenecks.</a:t>
            </a:r>
            <a:endParaRPr lang="en-PH" sz="2800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tx2">
                    <a:lumMod val="50000"/>
                  </a:schemeClr>
                </a:solidFill>
              </a:rPr>
              <a:t>Highlight IT contributions to operational efficiency.</a:t>
            </a:r>
            <a:endParaRPr lang="en-PH" sz="2800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tx2">
                    <a:lumMod val="50000"/>
                  </a:schemeClr>
                </a:solidFill>
              </a:rPr>
              <a:t>Present project costs, timelines, and resource requirements.</a:t>
            </a:r>
            <a:endParaRPr lang="en-PH" sz="2800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tx2">
                    <a:lumMod val="50000"/>
                  </a:schemeClr>
                </a:solidFill>
              </a:rPr>
              <a:t>Seek management guidance and approvals on key IT matters.</a:t>
            </a:r>
          </a:p>
        </p:txBody>
      </p:sp>
      <p:sp>
        <p:nvSpPr>
          <p:cNvPr id="4" name="Freeform 4"/>
          <p:cNvSpPr/>
          <p:nvPr/>
        </p:nvSpPr>
        <p:spPr>
          <a:xfrm>
            <a:off x="1220781" y="8454698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209675"/>
            <a:ext cx="6962948" cy="103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</p:spTree>
  </p:cSld>
  <p:clrMapOvr>
    <a:masterClrMapping/>
  </p:clrMapOvr>
  <p:transition spd="slow">
    <p:cover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7E308550-ED74-49CE-4F13-20E438EC11B1}"/>
              </a:ext>
            </a:extLst>
          </p:cNvPr>
          <p:cNvSpPr txBox="1"/>
          <p:nvPr/>
        </p:nvSpPr>
        <p:spPr>
          <a:xfrm>
            <a:off x="1028700" y="1209675"/>
            <a:ext cx="9867900" cy="94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ORGANIZATIONAL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2226FA1-8659-EE67-FED2-4DCA11DC175B}"/>
              </a:ext>
            </a:extLst>
          </p:cNvPr>
          <p:cNvSpPr txBox="1"/>
          <p:nvPr/>
        </p:nvSpPr>
        <p:spPr>
          <a:xfrm>
            <a:off x="9144000" y="1209675"/>
            <a:ext cx="3314700" cy="94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latin typeface="Poppins Bold"/>
                <a:ea typeface="Poppins Bold"/>
                <a:cs typeface="Poppins Bold"/>
                <a:sym typeface="Poppins Bold"/>
              </a:rPr>
              <a:t>CHART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304002-1F96-F925-B521-DC9D8E9E7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343" y="2781300"/>
            <a:ext cx="7603314" cy="6077249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7E7E10B9-A4F4-3A68-3C65-C7D583FF7D34}"/>
              </a:ext>
            </a:extLst>
          </p:cNvPr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51" t="-1040" b="-1040"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E1D71964-1183-FC29-277A-3BB67F4E33C3}"/>
              </a:ext>
            </a:extLst>
          </p:cNvPr>
          <p:cNvSpPr/>
          <p:nvPr/>
        </p:nvSpPr>
        <p:spPr>
          <a:xfrm>
            <a:off x="1220781" y="8454698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417681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1" t="-1040" b="-104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058957" y="1209675"/>
            <a:ext cx="5876243" cy="94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09675"/>
            <a:ext cx="8932017" cy="937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800"/>
              </a:lnSpc>
            </a:pPr>
            <a:r>
              <a:rPr lang="en-PH" sz="8000" dirty="0">
                <a:solidFill>
                  <a:srgbClr val="0542CD"/>
                </a:solidFill>
                <a:latin typeface="Poppins Bold" panose="00000800000000000000" charset="0"/>
                <a:cs typeface="Poppins Bold" panose="00000800000000000000" charset="0"/>
              </a:rPr>
              <a:t>IT DEPARTMENT</a:t>
            </a:r>
            <a:endParaRPr lang="en-US" sz="8000" b="1" spc="-688" dirty="0">
              <a:solidFill>
                <a:srgbClr val="0542CD"/>
              </a:solidFill>
              <a:latin typeface="Poppins Bold" panose="00000800000000000000" charset="0"/>
              <a:ea typeface="Poppins Bold"/>
              <a:cs typeface="Poppins Bold" panose="00000800000000000000" charset="0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2220064"/>
            <a:ext cx="16954500" cy="6590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2400" b="1" dirty="0">
                <a:solidFill>
                  <a:srgbClr val="002060"/>
                </a:solidFill>
              </a:rPr>
              <a:t>Department Function</a:t>
            </a:r>
            <a:endParaRPr lang="en-PH" sz="2400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2060"/>
                </a:solidFill>
              </a:rPr>
              <a:t>Responsible for the company’s IT systems, infrastructure, and digital project implementation to support business operations.</a:t>
            </a:r>
            <a:endParaRPr lang="en-PH" sz="2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sz="2400" b="1" dirty="0">
                <a:solidFill>
                  <a:srgbClr val="002060"/>
                </a:solidFill>
              </a:rPr>
              <a:t>Manpower Status</a:t>
            </a:r>
            <a:endParaRPr lang="en-PH" sz="2400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2060"/>
                </a:solidFill>
              </a:rPr>
              <a:t>IT Personnel: 1 (Solo IT Support / Administrator)</a:t>
            </a:r>
            <a:endParaRPr lang="en-PH" sz="2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2060"/>
                </a:solidFill>
              </a:rPr>
              <a:t>End-to-end IT operations (development, maintenance, support, deployment)</a:t>
            </a:r>
            <a:endParaRPr lang="en-PH" sz="2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sz="2400" b="1" dirty="0">
                <a:solidFill>
                  <a:srgbClr val="002060"/>
                </a:solidFill>
              </a:rPr>
              <a:t>Key Responsibilities</a:t>
            </a:r>
            <a:endParaRPr lang="en-PH" sz="2400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2060"/>
                </a:solidFill>
              </a:rPr>
              <a:t>Technical support for all department</a:t>
            </a:r>
            <a:r>
              <a:rPr lang="en-PH" sz="2400" dirty="0">
                <a:solidFill>
                  <a:srgbClr val="002060"/>
                </a:solidFill>
              </a:rPr>
              <a:t>s</a:t>
            </a:r>
          </a:p>
          <a:p>
            <a:pPr>
              <a:lnSpc>
                <a:spcPct val="150000"/>
              </a:lnSpc>
            </a:pPr>
            <a:r>
              <a:rPr sz="2400" b="1" dirty="0">
                <a:solidFill>
                  <a:srgbClr val="002060"/>
                </a:solidFill>
              </a:rPr>
              <a:t>C</a:t>
            </a:r>
            <a:r>
              <a:rPr lang="en-PH" sz="2400" b="1" dirty="0">
                <a:solidFill>
                  <a:srgbClr val="002060"/>
                </a:solidFill>
              </a:rPr>
              <a:t>u</a:t>
            </a:r>
            <a:r>
              <a:rPr sz="2400" b="1" dirty="0" err="1">
                <a:solidFill>
                  <a:srgbClr val="002060"/>
                </a:solidFill>
              </a:rPr>
              <a:t>rrent</a:t>
            </a:r>
            <a:r>
              <a:rPr sz="2400" b="1" dirty="0">
                <a:solidFill>
                  <a:srgbClr val="002060"/>
                </a:solidFill>
              </a:rPr>
              <a:t> Workload Summary</a:t>
            </a:r>
            <a:endParaRPr lang="en-PH" sz="2400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2060"/>
                </a:solidFill>
              </a:rPr>
              <a:t>Completed Projects: 6</a:t>
            </a:r>
            <a:endParaRPr lang="en-PH" sz="2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2060"/>
                </a:solidFill>
              </a:rPr>
              <a:t>Ongoing Projects: 2</a:t>
            </a:r>
            <a:endParaRPr lang="en-PH" sz="2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2060"/>
                </a:solidFill>
              </a:rPr>
              <a:t>On Hold Projects: 2</a:t>
            </a:r>
            <a:endParaRPr lang="en-PH" sz="2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2060"/>
                </a:solidFill>
              </a:rPr>
              <a:t>Not Started Projects: 2</a:t>
            </a:r>
          </a:p>
        </p:txBody>
      </p:sp>
    </p:spTree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51" t="-1040" b="-104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0781" y="8454698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788046" y="1209675"/>
            <a:ext cx="11710349" cy="103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HIGHLIGHTS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09675"/>
            <a:ext cx="8932017" cy="103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MONTHLY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4B35B01-A21E-A484-339E-D6AB57A90D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295264"/>
              </p:ext>
            </p:extLst>
          </p:nvPr>
        </p:nvGraphicFramePr>
        <p:xfrm>
          <a:off x="1028700" y="2444166"/>
          <a:ext cx="16230600" cy="57621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10200">
                  <a:extLst>
                    <a:ext uri="{9D8B030D-6E8A-4147-A177-3AD203B41FA5}">
                      <a16:colId xmlns:a16="http://schemas.microsoft.com/office/drawing/2014/main" val="846299661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609370748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625593579"/>
                    </a:ext>
                  </a:extLst>
                </a:gridCol>
              </a:tblGrid>
              <a:tr h="265672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002060"/>
                          </a:solidFill>
                        </a:rPr>
                        <a:t>Item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002060"/>
                          </a:solidFill>
                        </a:rPr>
                        <a:t>Status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002060"/>
                          </a:solidFill>
                        </a:rPr>
                        <a:t>Impact</a:t>
                      </a: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1669493625"/>
                  </a:ext>
                </a:extLst>
              </a:tr>
              <a:tr h="579793"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EAMS App &amp; Management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solidFill>
                            <a:srgbClr val="002060"/>
                          </a:solidFill>
                        </a:rPr>
                        <a:t>Completed (100%)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002060"/>
                          </a:solidFill>
                        </a:rPr>
                        <a:t>Attendance monitoring implemented</a:t>
                      </a: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2376580634"/>
                  </a:ext>
                </a:extLst>
              </a:tr>
              <a:tr h="579793">
                <a:tc>
                  <a:txBody>
                    <a:bodyPr/>
                    <a:lstStyle/>
                    <a:p>
                      <a:r>
                        <a:rPr lang="en-PH" sz="2400" dirty="0">
                          <a:solidFill>
                            <a:srgbClr val="002060"/>
                          </a:solidFill>
                        </a:rPr>
                        <a:t>Canva, </a:t>
                      </a:r>
                      <a:r>
                        <a:rPr sz="2400" dirty="0" err="1">
                          <a:solidFill>
                            <a:srgbClr val="002060"/>
                          </a:solidFill>
                        </a:rPr>
                        <a:t>GDrive</a:t>
                      </a:r>
                      <a:r>
                        <a:rPr sz="2400" dirty="0">
                          <a:solidFill>
                            <a:srgbClr val="002060"/>
                          </a:solidFill>
                        </a:rPr>
                        <a:t> &amp; Zoom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solidFill>
                            <a:srgbClr val="002060"/>
                          </a:solidFill>
                        </a:rPr>
                        <a:t>Completed (100%)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Productivity and collaboration tools implemented</a:t>
                      </a: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3321543518"/>
                  </a:ext>
                </a:extLst>
              </a:tr>
              <a:tr h="753731"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PBSI PVC ID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solidFill>
                            <a:srgbClr val="002060"/>
                          </a:solidFill>
                        </a:rPr>
                        <a:t>Completed (100%)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002060"/>
                          </a:solidFill>
                        </a:rPr>
                        <a:t>32 employee IDs completed</a:t>
                      </a: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4198165669"/>
                  </a:ext>
                </a:extLst>
              </a:tr>
              <a:tr h="692883"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Shared Calendar / Calling Card / Printer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solidFill>
                            <a:srgbClr val="002060"/>
                          </a:solidFill>
                        </a:rPr>
                        <a:t>Completed (100%)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Scheduling, branding, and office equipment support completed</a:t>
                      </a: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2372326293"/>
                  </a:ext>
                </a:extLst>
              </a:tr>
              <a:tr h="579793"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Backup/Archive Files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solidFill>
                            <a:srgbClr val="002060"/>
                          </a:solidFill>
                        </a:rPr>
                        <a:t>Ongoing (3%)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ZIP/email backup process and upload monitoring ongoing</a:t>
                      </a: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220942914"/>
                  </a:ext>
                </a:extLst>
              </a:tr>
              <a:tr h="579793">
                <a:tc>
                  <a:txBody>
                    <a:bodyPr/>
                    <a:lstStyle/>
                    <a:p>
                      <a:r>
                        <a:rPr lang="en-PH" sz="2400" dirty="0" err="1">
                          <a:solidFill>
                            <a:srgbClr val="002060"/>
                          </a:solidFill>
                        </a:rPr>
                        <a:t>Saveplus</a:t>
                      </a:r>
                      <a:r>
                        <a:rPr lang="en-PH" sz="2400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sz="2400" dirty="0">
                          <a:solidFill>
                            <a:srgbClr val="002060"/>
                          </a:solidFill>
                        </a:rPr>
                        <a:t>ID Card Design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solidFill>
                            <a:srgbClr val="002060"/>
                          </a:solidFill>
                        </a:rPr>
                        <a:t>Ongoing (80%)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3 ID design renders for checking with Sir Oriel</a:t>
                      </a: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2648666978"/>
                  </a:ext>
                </a:extLst>
              </a:tr>
              <a:tr h="5797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2400" dirty="0">
                          <a:solidFill>
                            <a:srgbClr val="002060"/>
                          </a:solidFill>
                        </a:rPr>
                        <a:t>Polystar ID Card Design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2400" dirty="0">
                          <a:solidFill>
                            <a:srgbClr val="002060"/>
                          </a:solidFill>
                        </a:rPr>
                        <a:t>Ongoing (30%)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2 ID design renders for checking with Ma’am Kath</a:t>
                      </a: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41312328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over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1" t="-1040" b="-104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0781" y="8454698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515600" y="1209675"/>
            <a:ext cx="6357153" cy="891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600" b="1" spc="-688" dirty="0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699" y="1209675"/>
            <a:ext cx="11710349" cy="891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600" b="1" spc="-688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IT PROJECT PERFORMANCE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3FC67A4-4422-FE9A-6B79-B79C4A6D1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275796"/>
              </p:ext>
            </p:extLst>
          </p:nvPr>
        </p:nvGraphicFramePr>
        <p:xfrm>
          <a:off x="1028698" y="2537301"/>
          <a:ext cx="16230600" cy="3017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10200">
                  <a:extLst>
                    <a:ext uri="{9D8B030D-6E8A-4147-A177-3AD203B41FA5}">
                      <a16:colId xmlns:a16="http://schemas.microsoft.com/office/drawing/2014/main" val="2736678867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1585697617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15704181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2800" b="1" dirty="0">
                          <a:solidFill>
                            <a:srgbClr val="002060"/>
                          </a:solidFill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dirty="0">
                          <a:solidFill>
                            <a:srgbClr val="002060"/>
                          </a:solidFill>
                        </a:rPr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dirty="0">
                          <a:solidFill>
                            <a:srgbClr val="002060"/>
                          </a:solidFill>
                        </a:rPr>
                        <a:t>Remarks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02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2800" dirty="0">
                          <a:solidFill>
                            <a:srgbClr val="002060"/>
                          </a:solidFill>
                        </a:rPr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002060"/>
                          </a:solidFill>
                        </a:rPr>
                        <a:t>Successfully delivered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4431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2800" dirty="0">
                          <a:solidFill>
                            <a:srgbClr val="002060"/>
                          </a:solidFill>
                        </a:rPr>
                        <a:t>Ongoing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002060"/>
                          </a:solidFill>
                        </a:rPr>
                        <a:t>Currently in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52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2800" dirty="0">
                          <a:solidFill>
                            <a:srgbClr val="002060"/>
                          </a:solidFill>
                        </a:rPr>
                        <a:t>On 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800" dirty="0">
                          <a:solidFill>
                            <a:srgbClr val="002060"/>
                          </a:solidFill>
                        </a:rPr>
                        <a:t>Awaiting resolution or management direction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115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2800">
                          <a:solidFill>
                            <a:srgbClr val="002060"/>
                          </a:solidFill>
                        </a:rPr>
                        <a:t>Not Started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800" dirty="0">
                          <a:solidFill>
                            <a:srgbClr val="002060"/>
                          </a:solidFill>
                        </a:rPr>
                        <a:t>Pending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47403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1" t="-1040" b="-104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0781" y="8454698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25030" y="1209675"/>
            <a:ext cx="11710349" cy="103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CONTRIBUTION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09675"/>
            <a:ext cx="8932017" cy="103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0ACD10-5CEA-4C81-C19C-A5C3A6F7CBE6}"/>
              </a:ext>
            </a:extLst>
          </p:cNvPr>
          <p:cNvSpPr txBox="1"/>
          <p:nvPr/>
        </p:nvSpPr>
        <p:spPr>
          <a:xfrm>
            <a:off x="990600" y="2444704"/>
            <a:ext cx="16078200" cy="558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 dirty="0">
                <a:solidFill>
                  <a:srgbClr val="002060"/>
                </a:solidFill>
              </a:rPr>
              <a:t>SYSTEMS</a:t>
            </a:r>
            <a:endParaRPr lang="en-PH" sz="2000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2060"/>
                </a:solidFill>
              </a:rPr>
              <a:t>EAMS / HRIS and application support</a:t>
            </a:r>
            <a:endParaRPr lang="en-PH" sz="20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sz="2000" b="1" dirty="0">
                <a:solidFill>
                  <a:srgbClr val="002060"/>
                </a:solidFill>
              </a:rPr>
              <a:t>CONNECTIVITY</a:t>
            </a:r>
            <a:endParaRPr lang="en-PH" sz="2000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2060"/>
                </a:solidFill>
              </a:rPr>
              <a:t>PLDT, network, and biometric connectivity</a:t>
            </a:r>
            <a:endParaRPr lang="en-PH" sz="20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sz="2000" b="1" dirty="0">
                <a:solidFill>
                  <a:srgbClr val="002060"/>
                </a:solidFill>
              </a:rPr>
              <a:t>DATA</a:t>
            </a:r>
            <a:endParaRPr lang="en-PH" sz="2000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2060"/>
                </a:solidFill>
              </a:rPr>
              <a:t>Backup, archive, and data banking</a:t>
            </a:r>
            <a:endParaRPr lang="en-PH" sz="20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sz="2000" b="1" dirty="0">
                <a:solidFill>
                  <a:srgbClr val="002060"/>
                </a:solidFill>
              </a:rPr>
              <a:t>PRODUCTIVITY</a:t>
            </a:r>
            <a:endParaRPr lang="en-PH" sz="2000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2060"/>
                </a:solidFill>
              </a:rPr>
              <a:t>Google Drive, Canva, Zoom, and Shared Calendar</a:t>
            </a:r>
            <a:endParaRPr lang="en-PH" sz="20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sz="2000" b="1" dirty="0">
                <a:solidFill>
                  <a:srgbClr val="002060"/>
                </a:solidFill>
              </a:rPr>
              <a:t>EQUIPMENT</a:t>
            </a:r>
            <a:endParaRPr lang="en-PH" sz="2000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sz="2000" dirty="0">
                <a:solidFill>
                  <a:srgbClr val="002060"/>
                </a:solidFill>
              </a:rPr>
              <a:t>Printer, PC, and end-user setup</a:t>
            </a:r>
            <a:endParaRPr lang="en-PH" sz="20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sz="2000" b="1" dirty="0">
                <a:solidFill>
                  <a:srgbClr val="002060"/>
                </a:solidFill>
              </a:rPr>
              <a:t>SUPPORT</a:t>
            </a:r>
            <a:endParaRPr lang="en-PH" sz="2000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2060"/>
                </a:solidFill>
              </a:rPr>
              <a:t>Technical assistance and troubleshooting across departments</a:t>
            </a:r>
          </a:p>
        </p:txBody>
      </p:sp>
    </p:spTree>
  </p:cSld>
  <p:clrMapOvr>
    <a:masterClrMapping/>
  </p:clrMapOvr>
  <p:transition spd="slow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1" t="-1040" b="-104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0781" y="8454698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209675"/>
            <a:ext cx="16230600" cy="103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ISSUES/CONCERNS</a:t>
            </a:r>
            <a:r>
              <a:rPr lang="en-US" sz="8000" b="1" spc="-688" dirty="0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/ BOTTLENECKS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6395B7-0C52-FBC0-0A6C-573657967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801788"/>
              </p:ext>
            </p:extLst>
          </p:nvPr>
        </p:nvGraphicFramePr>
        <p:xfrm>
          <a:off x="1028701" y="2210275"/>
          <a:ext cx="16187925" cy="430249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37585">
                  <a:extLst>
                    <a:ext uri="{9D8B030D-6E8A-4147-A177-3AD203B41FA5}">
                      <a16:colId xmlns:a16="http://schemas.microsoft.com/office/drawing/2014/main" val="2967841579"/>
                    </a:ext>
                  </a:extLst>
                </a:gridCol>
                <a:gridCol w="3810914">
                  <a:extLst>
                    <a:ext uri="{9D8B030D-6E8A-4147-A177-3AD203B41FA5}">
                      <a16:colId xmlns:a16="http://schemas.microsoft.com/office/drawing/2014/main" val="158489889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23855423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1446002406"/>
                    </a:ext>
                  </a:extLst>
                </a:gridCol>
                <a:gridCol w="2738626">
                  <a:extLst>
                    <a:ext uri="{9D8B030D-6E8A-4147-A177-3AD203B41FA5}">
                      <a16:colId xmlns:a16="http://schemas.microsoft.com/office/drawing/2014/main" val="2850214199"/>
                    </a:ext>
                  </a:extLst>
                </a:gridCol>
              </a:tblGrid>
              <a:tr h="307590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002060"/>
                          </a:solidFill>
                        </a:rPr>
                        <a:t>Issue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002060"/>
                          </a:solidFill>
                        </a:rPr>
                        <a:t>Root Cause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002060"/>
                          </a:solidFill>
                        </a:rPr>
                        <a:t>Affected Department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002060"/>
                          </a:solidFill>
                        </a:rPr>
                        <a:t>Required Action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002060"/>
                          </a:solidFill>
                        </a:rPr>
                        <a:t>Escalation Needed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1543987947"/>
                  </a:ext>
                </a:extLst>
              </a:tr>
              <a:tr h="571238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002060"/>
                          </a:solidFill>
                        </a:rPr>
                        <a:t>LinisPlus project on hold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Source code / development issues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en-PH" sz="2400" dirty="0">
                          <a:solidFill>
                            <a:srgbClr val="002060"/>
                          </a:solidFill>
                        </a:rPr>
                        <a:t>IT</a:t>
                      </a:r>
                      <a:r>
                        <a:rPr sz="2400" dirty="0">
                          <a:solidFill>
                            <a:srgbClr val="002060"/>
                          </a:solidFill>
                        </a:rPr>
                        <a:t> / Management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Evaluate project viability and determine next steps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Management Decision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549986035"/>
                  </a:ext>
                </a:extLst>
              </a:tr>
              <a:tr h="834886"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Network Setup on hold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Network consolidation and backup/wired plan pending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All Departments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Review proposed setup and implementation direction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Management Guidance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188486222"/>
                  </a:ext>
                </a:extLst>
              </a:tr>
              <a:tr h="703062"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Backup/Archive process ongoing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Permanent data banking solution not yet started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All Departments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Continue ZIP/email collection, upload, and monitoring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Monitoring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1687617531"/>
                  </a:ext>
                </a:extLst>
              </a:tr>
              <a:tr h="834886"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Canary Biometric connection pending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Wired connectivity implementation not yet started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HR / Operations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Coordinate IT assistance and cabling implementation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002060"/>
                          </a:solidFill>
                        </a:rPr>
                        <a:t>Management Coordination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204371333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1" t="-1040" b="-104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0781" y="8454698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209675"/>
            <a:ext cx="16230600" cy="103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RISK &amp; EXPOSURE </a:t>
            </a:r>
            <a:r>
              <a:rPr lang="en-US" sz="8000" b="1" spc="-688" dirty="0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AEC1B0-3816-9E9A-3A3B-3D6B9C513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655335"/>
              </p:ext>
            </p:extLst>
          </p:nvPr>
        </p:nvGraphicFramePr>
        <p:xfrm>
          <a:off x="1028696" y="2223116"/>
          <a:ext cx="16230604" cy="59077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14704">
                  <a:extLst>
                    <a:ext uri="{9D8B030D-6E8A-4147-A177-3AD203B41FA5}">
                      <a16:colId xmlns:a16="http://schemas.microsoft.com/office/drawing/2014/main" val="20756041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583674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885154742"/>
                    </a:ext>
                  </a:extLst>
                </a:gridCol>
                <a:gridCol w="6819900">
                  <a:extLst>
                    <a:ext uri="{9D8B030D-6E8A-4147-A177-3AD203B41FA5}">
                      <a16:colId xmlns:a16="http://schemas.microsoft.com/office/drawing/2014/main" val="3936734322"/>
                    </a:ext>
                  </a:extLst>
                </a:gridCol>
              </a:tblGrid>
              <a:tr h="196781">
                <a:tc>
                  <a:txBody>
                    <a:bodyPr/>
                    <a:lstStyle/>
                    <a:p>
                      <a:pPr algn="ctr"/>
                      <a:r>
                        <a:rPr sz="2800" b="1" dirty="0">
                          <a:solidFill>
                            <a:srgbClr val="002060"/>
                          </a:solidFill>
                        </a:rPr>
                        <a:t>Project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dirty="0">
                          <a:solidFill>
                            <a:srgbClr val="002060"/>
                          </a:solidFill>
                        </a:rPr>
                        <a:t>Risk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dirty="0">
                          <a:solidFill>
                            <a:srgbClr val="002060"/>
                          </a:solidFill>
                        </a:rPr>
                        <a:t>Impact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dirty="0">
                          <a:solidFill>
                            <a:srgbClr val="002060"/>
                          </a:solidFill>
                        </a:rPr>
                        <a:t>Mitigations</a:t>
                      </a:r>
                    </a:p>
                  </a:txBody>
                  <a:tcPr marL="49195" marR="49195" marT="24598" marB="24598" anchor="ctr"/>
                </a:tc>
                <a:extLst>
                  <a:ext uri="{0D108BD9-81ED-4DB2-BD59-A6C34878D82A}">
                    <a16:rowId xmlns:a16="http://schemas.microsoft.com/office/drawing/2014/main" val="1563784611"/>
                  </a:ext>
                </a:extLst>
              </a:tr>
              <a:tr h="344367">
                <a:tc>
                  <a:txBody>
                    <a:bodyPr/>
                    <a:lstStyle/>
                    <a:p>
                      <a:r>
                        <a:rPr sz="2800" dirty="0">
                          <a:solidFill>
                            <a:srgbClr val="002060"/>
                          </a:solidFill>
                        </a:rPr>
                        <a:t>Backup/Archive Files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 dirty="0">
                          <a:solidFill>
                            <a:srgbClr val="002060"/>
                          </a:solidFill>
                        </a:rPr>
                        <a:t>Medium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 dirty="0">
                          <a:solidFill>
                            <a:srgbClr val="002060"/>
                          </a:solidFill>
                        </a:rPr>
                        <a:t>Manual backup process and incomplete archiving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 dirty="0">
                          <a:solidFill>
                            <a:srgbClr val="002060"/>
                          </a:solidFill>
                        </a:rPr>
                        <a:t>Continue upload monitoring and move toward permanent storage</a:t>
                      </a:r>
                    </a:p>
                  </a:txBody>
                  <a:tcPr marL="49195" marR="49195" marT="24598" marB="24598" anchor="ctr"/>
                </a:tc>
                <a:extLst>
                  <a:ext uri="{0D108BD9-81ED-4DB2-BD59-A6C34878D82A}">
                    <a16:rowId xmlns:a16="http://schemas.microsoft.com/office/drawing/2014/main" val="922169175"/>
                  </a:ext>
                </a:extLst>
              </a:tr>
              <a:tr h="344367">
                <a:tc>
                  <a:txBody>
                    <a:bodyPr/>
                    <a:lstStyle/>
                    <a:p>
                      <a:r>
                        <a:rPr sz="2800" dirty="0" err="1">
                          <a:solidFill>
                            <a:srgbClr val="002060"/>
                          </a:solidFill>
                        </a:rPr>
                        <a:t>LinisPlus</a:t>
                      </a:r>
                      <a:r>
                        <a:rPr sz="2800" dirty="0">
                          <a:solidFill>
                            <a:srgbClr val="002060"/>
                          </a:solidFill>
                        </a:rPr>
                        <a:t> Project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 dirty="0">
                          <a:solidFill>
                            <a:srgbClr val="002060"/>
                          </a:solidFill>
                        </a:rPr>
                        <a:t>Medium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 dirty="0">
                          <a:solidFill>
                            <a:srgbClr val="002060"/>
                          </a:solidFill>
                        </a:rPr>
                        <a:t>Extended project delay / unresolved development issues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 dirty="0">
                          <a:solidFill>
                            <a:srgbClr val="002060"/>
                          </a:solidFill>
                        </a:rPr>
                        <a:t>Management review and decision on continuation</a:t>
                      </a:r>
                    </a:p>
                  </a:txBody>
                  <a:tcPr marL="49195" marR="49195" marT="24598" marB="24598" anchor="ctr"/>
                </a:tc>
                <a:extLst>
                  <a:ext uri="{0D108BD9-81ED-4DB2-BD59-A6C34878D82A}">
                    <a16:rowId xmlns:a16="http://schemas.microsoft.com/office/drawing/2014/main" val="985275316"/>
                  </a:ext>
                </a:extLst>
              </a:tr>
              <a:tr h="491952">
                <a:tc>
                  <a:txBody>
                    <a:bodyPr/>
                    <a:lstStyle/>
                    <a:p>
                      <a:r>
                        <a:rPr sz="2800" dirty="0">
                          <a:solidFill>
                            <a:srgbClr val="002060"/>
                          </a:solidFill>
                        </a:rPr>
                        <a:t>Network Setup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002060"/>
                          </a:solidFill>
                        </a:rPr>
                        <a:t>Medium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 dirty="0">
                          <a:solidFill>
                            <a:srgbClr val="002060"/>
                          </a:solidFill>
                        </a:rPr>
                        <a:t>Connectivity reliability and infrastructure limitations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 dirty="0">
                          <a:solidFill>
                            <a:srgbClr val="002060"/>
                          </a:solidFill>
                        </a:rPr>
                        <a:t>Proper design, testing, and backup connectivity planning</a:t>
                      </a:r>
                    </a:p>
                  </a:txBody>
                  <a:tcPr marL="49195" marR="49195" marT="24598" marB="24598" anchor="ctr"/>
                </a:tc>
                <a:extLst>
                  <a:ext uri="{0D108BD9-81ED-4DB2-BD59-A6C34878D82A}">
                    <a16:rowId xmlns:a16="http://schemas.microsoft.com/office/drawing/2014/main" val="446852598"/>
                  </a:ext>
                </a:extLst>
              </a:tr>
              <a:tr h="344367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002060"/>
                          </a:solidFill>
                        </a:rPr>
                        <a:t>Canary Biometric Project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002060"/>
                          </a:solidFill>
                        </a:rPr>
                        <a:t>Setup delay may affect stable biometric connectivity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002060"/>
                          </a:solidFill>
                        </a:rPr>
                        <a:t>Coordinate materials, cabling, and implementation schedule</a:t>
                      </a:r>
                    </a:p>
                  </a:txBody>
                  <a:tcPr marL="49195" marR="49195" marT="24598" marB="24598" anchor="ctr"/>
                </a:tc>
                <a:extLst>
                  <a:ext uri="{0D108BD9-81ED-4DB2-BD59-A6C34878D82A}">
                    <a16:rowId xmlns:a16="http://schemas.microsoft.com/office/drawing/2014/main" val="168468827"/>
                  </a:ext>
                </a:extLst>
              </a:tr>
              <a:tr h="491952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002060"/>
                          </a:solidFill>
                        </a:rPr>
                        <a:t>Data Banking Project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002060"/>
                          </a:solidFill>
                        </a:rPr>
                        <a:t>Medium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002060"/>
                          </a:solidFill>
                        </a:rPr>
                        <a:t>No permanent centralized storage yet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002060"/>
                          </a:solidFill>
                        </a:rPr>
                        <a:t>Proceed with centralized storage and backup planning</a:t>
                      </a:r>
                    </a:p>
                  </a:txBody>
                  <a:tcPr marL="49195" marR="49195" marT="24598" marB="24598" anchor="ctr"/>
                </a:tc>
                <a:extLst>
                  <a:ext uri="{0D108BD9-81ED-4DB2-BD59-A6C34878D82A}">
                    <a16:rowId xmlns:a16="http://schemas.microsoft.com/office/drawing/2014/main" val="189977078"/>
                  </a:ext>
                </a:extLst>
              </a:tr>
              <a:tr h="491952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002060"/>
                          </a:solidFill>
                        </a:rPr>
                        <a:t>ID Card Design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002060"/>
                          </a:solidFill>
                        </a:rPr>
                        <a:t>Approval/revision delays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sz="2800" dirty="0">
                          <a:solidFill>
                            <a:srgbClr val="002060"/>
                          </a:solidFill>
                        </a:rPr>
                        <a:t>Obtain feedback and finalize approved design</a:t>
                      </a:r>
                    </a:p>
                  </a:txBody>
                  <a:tcPr marL="49195" marR="49195" marT="24598" marB="24598" anchor="ctr"/>
                </a:tc>
                <a:extLst>
                  <a:ext uri="{0D108BD9-81ED-4DB2-BD59-A6C34878D82A}">
                    <a16:rowId xmlns:a16="http://schemas.microsoft.com/office/drawing/2014/main" val="144364632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1" t="-1040" b="-104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0781" y="8454698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209675"/>
            <a:ext cx="16230600" cy="103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ACTION </a:t>
            </a:r>
            <a:r>
              <a:rPr lang="en-US" sz="8000" b="1" spc="-688" dirty="0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PLANS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DCB8E2-9250-8044-65C8-94121BD8B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894366"/>
              </p:ext>
            </p:extLst>
          </p:nvPr>
        </p:nvGraphicFramePr>
        <p:xfrm>
          <a:off x="1028700" y="2261454"/>
          <a:ext cx="16230604" cy="49715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57651">
                  <a:extLst>
                    <a:ext uri="{9D8B030D-6E8A-4147-A177-3AD203B41FA5}">
                      <a16:colId xmlns:a16="http://schemas.microsoft.com/office/drawing/2014/main" val="2112933404"/>
                    </a:ext>
                  </a:extLst>
                </a:gridCol>
                <a:gridCol w="4057651">
                  <a:extLst>
                    <a:ext uri="{9D8B030D-6E8A-4147-A177-3AD203B41FA5}">
                      <a16:colId xmlns:a16="http://schemas.microsoft.com/office/drawing/2014/main" val="722005998"/>
                    </a:ext>
                  </a:extLst>
                </a:gridCol>
                <a:gridCol w="4057651">
                  <a:extLst>
                    <a:ext uri="{9D8B030D-6E8A-4147-A177-3AD203B41FA5}">
                      <a16:colId xmlns:a16="http://schemas.microsoft.com/office/drawing/2014/main" val="4188683894"/>
                    </a:ext>
                  </a:extLst>
                </a:gridCol>
                <a:gridCol w="4057651">
                  <a:extLst>
                    <a:ext uri="{9D8B030D-6E8A-4147-A177-3AD203B41FA5}">
                      <a16:colId xmlns:a16="http://schemas.microsoft.com/office/drawing/2014/main" val="3253831521"/>
                    </a:ext>
                  </a:extLst>
                </a:gridCol>
              </a:tblGrid>
              <a:tr h="270207">
                <a:tc>
                  <a:txBody>
                    <a:bodyPr/>
                    <a:lstStyle/>
                    <a:p>
                      <a:r>
                        <a:t>Action Item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Responsible Person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Timeline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Success Measure</a:t>
                      </a: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1741035664"/>
                  </a:ext>
                </a:extLst>
              </a:tr>
              <a:tr h="675517">
                <a:tc>
                  <a:txBody>
                    <a:bodyPr/>
                    <a:lstStyle/>
                    <a:p>
                      <a:r>
                        <a:t>Continue Backup/Archive file collection and monitoring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IT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Ongoing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Files uploaded and archive progress tracked</a:t>
                      </a: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1430376879"/>
                  </a:ext>
                </a:extLst>
              </a:tr>
              <a:tr h="675517">
                <a:tc>
                  <a:txBody>
                    <a:bodyPr/>
                    <a:lstStyle/>
                    <a:p>
                      <a:r>
                        <a:t>Finalize ID card design after checking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IT / Management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Ongoing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Approved ID design ready for implementation</a:t>
                      </a: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4005115193"/>
                  </a:ext>
                </a:extLst>
              </a:tr>
              <a:tr h="675517">
                <a:tc>
                  <a:txBody>
                    <a:bodyPr/>
                    <a:lstStyle/>
                    <a:p>
                      <a:r>
                        <a:t>Review Network Setup proposal and requirements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IT / Management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Scope and implementation direction approved</a:t>
                      </a: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2321612897"/>
                  </a:ext>
                </a:extLst>
              </a:tr>
              <a:tr h="878172">
                <a:tc>
                  <a:txBody>
                    <a:bodyPr/>
                    <a:lstStyle/>
                    <a:p>
                      <a:r>
                        <a:t>Implement Canary Biometric wired connectivity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IT / Management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Stable wired biometric connection established</a:t>
                      </a: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2917117224"/>
                  </a:ext>
                </a:extLst>
              </a:tr>
              <a:tr h="675517">
                <a:tc>
                  <a:txBody>
                    <a:bodyPr/>
                    <a:lstStyle/>
                    <a:p>
                      <a:r>
                        <a:t>Establish permanent centralized data storage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IT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Q3 2026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Data banking and backup process operational</a:t>
                      </a: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3622480629"/>
                  </a:ext>
                </a:extLst>
              </a:tr>
              <a:tr h="675517">
                <a:tc>
                  <a:txBody>
                    <a:bodyPr/>
                    <a:lstStyle/>
                    <a:p>
                      <a:r>
                        <a:t>Resolve or obtain direction on LinisPlus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Management / IT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r>
                        <a:t>Project status formally decided</a:t>
                      </a: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427475808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1" t="-1040" b="-104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0781" y="8454698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209675"/>
            <a:ext cx="16230600" cy="103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SUPPORT </a:t>
            </a:r>
            <a:r>
              <a:rPr lang="en-US" sz="8000" b="1" spc="-688" dirty="0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NEEDED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F7E9B-D785-8251-853A-D92A37B6C7C7}"/>
              </a:ext>
            </a:extLst>
          </p:cNvPr>
          <p:cNvSpPr txBox="1"/>
          <p:nvPr/>
        </p:nvSpPr>
        <p:spPr>
          <a:xfrm>
            <a:off x="1220781" y="2171700"/>
            <a:ext cx="16038519" cy="235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t>Decisions Needed</a:t>
            </a:r>
            <a:br/>
            <a:r>
              <a:t>• Direction on LinisPlus continuation</a:t>
            </a:r>
            <a:br/>
            <a:r>
              <a:t>• Direction on Network Setup and permanent data banking</a:t>
            </a:r>
            <a:br/>
            <a:r>
              <a:t>• Approval / coordination for Canary Biometric wired connectivity</a:t>
            </a:r>
            <a:br/>
            <a:br/>
            <a:r>
              <a:t>Operational Support</a:t>
            </a:r>
            <a:br/>
            <a:r>
              <a:t>• Timely submission of files and requirements from departments</a:t>
            </a:r>
            <a:br/>
            <a:r>
              <a:t>• Coordination during testing and implementation</a:t>
            </a:r>
            <a:br/>
            <a:r>
              <a:t>• Management feedback and approval for pending IT initiatives</a:t>
            </a:r>
            <a:br/>
            <a:br/>
            <a:r>
              <a:t>Current Priority</a:t>
            </a:r>
            <a:br/>
            <a:r>
              <a:t>• Continue Backup/Archive monitoring</a:t>
            </a:r>
            <a:br/>
            <a:r>
              <a:t>• Finalize ID card design</a:t>
            </a:r>
            <a:br/>
            <a:r>
              <a:t>• Progress permanent data banking and network planning</a:t>
            </a:r>
          </a:p>
        </p:txBody>
      </p:sp>
    </p:spTree>
  </p:cSld>
  <p:clrMapOvr>
    <a:masterClrMapping/>
  </p:clrMapOvr>
  <p:transition spd="slow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7292" y="-309326"/>
            <a:ext cx="20102584" cy="10905652"/>
          </a:xfrm>
          <a:custGeom>
            <a:avLst/>
            <a:gdLst/>
            <a:ahLst/>
            <a:cxnLst/>
            <a:rect l="l" t="t" r="r" b="b"/>
            <a:pathLst>
              <a:path w="20102584" h="10905652">
                <a:moveTo>
                  <a:pt x="0" y="0"/>
                </a:moveTo>
                <a:lnTo>
                  <a:pt x="20102584" y="0"/>
                </a:lnTo>
                <a:lnTo>
                  <a:pt x="20102584" y="10905652"/>
                </a:lnTo>
                <a:lnTo>
                  <a:pt x="0" y="10905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033210"/>
            <a:ext cx="9786995" cy="469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44"/>
              </a:lnSpc>
            </a:pPr>
            <a:r>
              <a:rPr lang="en-US" sz="19934" b="1" spc="-1714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755</Words>
  <Application>Microsoft Office PowerPoint</Application>
  <PresentationFormat>Custom</PresentationFormat>
  <Paragraphs>175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Poppins Bold</vt:lpstr>
      <vt:lpstr>Calibri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SPLSC MANCOM</dc:title>
  <cp:lastModifiedBy>Eris SavePlus</cp:lastModifiedBy>
  <cp:revision>3</cp:revision>
  <dcterms:created xsi:type="dcterms:W3CDTF">2006-08-16T00:00:00Z</dcterms:created>
  <dcterms:modified xsi:type="dcterms:W3CDTF">2026-08-12T10:31:34Z</dcterms:modified>
  <dc:identifier>DAHLdbBqAM8</dc:identifier>
</cp:coreProperties>
</file>