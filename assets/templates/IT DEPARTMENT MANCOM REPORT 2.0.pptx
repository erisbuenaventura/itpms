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77" r:id="rId4"/>
    <p:sldId id="261" r:id="rId5"/>
    <p:sldId id="262" r:id="rId6"/>
    <p:sldId id="263" r:id="rId7"/>
    <p:sldId id="264" r:id="rId8"/>
    <p:sldId id="265" r:id="rId9"/>
    <p:sldId id="268" r:id="rId10"/>
    <p:sldId id="276" r:id="rId11"/>
  </p:sldIdLst>
  <p:sldSz cx="18288000" cy="10287000"/>
  <p:notesSz cx="6858000" cy="9144000"/>
  <p:embeddedFontLst>
    <p:embeddedFont>
      <p:font typeface="Poppins" panose="00000500000000000000" pitchFamily="2" charset="0"/>
      <p:regular r:id="rId13"/>
      <p:bold r:id="rId14"/>
      <p:italic r:id="rId15"/>
      <p:boldItalic r:id="rId16"/>
    </p:embeddedFont>
    <p:embeddedFont>
      <p:font typeface="Poppins Bold" panose="00000800000000000000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42CD"/>
    <a:srgbClr val="0C7E1F"/>
    <a:srgbClr val="3A17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6196CA-15B5-482C-AA35-B2F9F842DDB6}" v="2" dt="2026-08-14T09:47:26.07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771" autoAdjust="0"/>
  </p:normalViewPr>
  <p:slideViewPr>
    <p:cSldViewPr>
      <p:cViewPr varScale="1">
        <p:scale>
          <a:sx n="47" d="100"/>
          <a:sy n="47" d="100"/>
        </p:scale>
        <p:origin x="113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s SavePlus" userId="322ab7189f453779" providerId="LiveId" clId="{45BB4034-6873-4900-8D6A-6934447975A2}"/>
    <pc:docChg chg="undo custSel addSld delSld modSld">
      <pc:chgData name="Eris SavePlus" userId="322ab7189f453779" providerId="LiveId" clId="{45BB4034-6873-4900-8D6A-6934447975A2}" dt="2026-08-14T09:53:53.398" v="1121" actId="20577"/>
      <pc:docMkLst>
        <pc:docMk/>
      </pc:docMkLst>
      <pc:sldChg chg="modSp mod">
        <pc:chgData name="Eris SavePlus" userId="322ab7189f453779" providerId="LiveId" clId="{45BB4034-6873-4900-8D6A-6934447975A2}" dt="2026-08-14T09:46:22.872" v="1089" actId="20577"/>
        <pc:sldMkLst>
          <pc:docMk/>
          <pc:sldMk cId="0" sldId="256"/>
        </pc:sldMkLst>
        <pc:spChg chg="mod">
          <ac:chgData name="Eris SavePlus" userId="322ab7189f453779" providerId="LiveId" clId="{45BB4034-6873-4900-8D6A-6934447975A2}" dt="2026-08-14T09:46:22.872" v="1089" actId="20577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Eris SavePlus" userId="322ab7189f453779" providerId="LiveId" clId="{45BB4034-6873-4900-8D6A-6934447975A2}" dt="2026-08-10T07:42:46.900" v="1083"/>
        <pc:sldMkLst>
          <pc:docMk/>
          <pc:sldMk cId="0" sldId="257"/>
        </pc:sldMkLst>
        <pc:spChg chg="mod">
          <ac:chgData name="Eris SavePlus" userId="322ab7189f453779" providerId="LiveId" clId="{45BB4034-6873-4900-8D6A-6934447975A2}" dt="2026-08-10T07:42:46.900" v="1083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Eris SavePlus" userId="322ab7189f453779" providerId="LiveId" clId="{45BB4034-6873-4900-8D6A-6934447975A2}" dt="2026-08-14T09:52:45.615" v="1112" actId="2711"/>
        <pc:sldMkLst>
          <pc:docMk/>
          <pc:sldMk cId="0" sldId="262"/>
        </pc:sldMkLst>
        <pc:graphicFrameChg chg="mod modGraphic">
          <ac:chgData name="Eris SavePlus" userId="322ab7189f453779" providerId="LiveId" clId="{45BB4034-6873-4900-8D6A-6934447975A2}" dt="2026-08-14T09:52:45.615" v="1112" actId="2711"/>
          <ac:graphicFrameMkLst>
            <pc:docMk/>
            <pc:sldMk cId="0" sldId="262"/>
            <ac:graphicFrameMk id="6" creationId="{7E1457DB-A9A3-8B1B-0D1F-4068EECD1F96}"/>
          </ac:graphicFrameMkLst>
        </pc:graphicFrameChg>
      </pc:sldChg>
      <pc:sldChg chg="modSp mod">
        <pc:chgData name="Eris SavePlus" userId="322ab7189f453779" providerId="LiveId" clId="{45BB4034-6873-4900-8D6A-6934447975A2}" dt="2026-08-14T09:53:53.398" v="1121" actId="20577"/>
        <pc:sldMkLst>
          <pc:docMk/>
          <pc:sldMk cId="0" sldId="263"/>
        </pc:sldMkLst>
        <pc:graphicFrameChg chg="mod modGraphic">
          <ac:chgData name="Eris SavePlus" userId="322ab7189f453779" providerId="LiveId" clId="{45BB4034-6873-4900-8D6A-6934447975A2}" dt="2026-08-14T09:53:53.398" v="1121" actId="20577"/>
          <ac:graphicFrameMkLst>
            <pc:docMk/>
            <pc:sldMk cId="0" sldId="263"/>
            <ac:graphicFrameMk id="17" creationId="{B4017063-C1A7-B01C-98C7-D45389C833D5}"/>
          </ac:graphicFrameMkLst>
        </pc:graphicFrameChg>
        <pc:picChg chg="mod">
          <ac:chgData name="Eris SavePlus" userId="322ab7189f453779" providerId="LiveId" clId="{45BB4034-6873-4900-8D6A-6934447975A2}" dt="2026-08-14T09:53:40.861" v="1119" actId="14100"/>
          <ac:picMkLst>
            <pc:docMk/>
            <pc:sldMk cId="0" sldId="263"/>
            <ac:picMk id="21" creationId="{B8480289-AB51-93BC-07EC-3AE62A56157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D347F9-DA28-4AAB-B72D-1C4591BE0C4A}" type="datetimeFigureOut">
              <a:rPr lang="en-PH" smtClean="0"/>
              <a:t>14/08/2026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CC72BD-D9BF-442C-9B3F-6E27C4C1582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51685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C72BD-D9BF-442C-9B3F-6E27C4C1582A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398604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itpms.infinityfreeapp.com/index.php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70811" y="-1621909"/>
            <a:ext cx="12245390" cy="13530818"/>
          </a:xfrm>
          <a:custGeom>
            <a:avLst/>
            <a:gdLst/>
            <a:ahLst/>
            <a:cxnLst/>
            <a:rect l="l" t="t" r="r" b="b"/>
            <a:pathLst>
              <a:path w="12245390" h="13530818">
                <a:moveTo>
                  <a:pt x="0" y="0"/>
                </a:moveTo>
                <a:lnTo>
                  <a:pt x="12245390" y="0"/>
                </a:lnTo>
                <a:lnTo>
                  <a:pt x="12245390" y="13530818"/>
                </a:lnTo>
                <a:lnTo>
                  <a:pt x="0" y="135308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2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1542050"/>
            <a:ext cx="5953803" cy="1870280"/>
          </a:xfrm>
          <a:custGeom>
            <a:avLst/>
            <a:gdLst/>
            <a:ahLst/>
            <a:cxnLst/>
            <a:rect l="l" t="t" r="r" b="b"/>
            <a:pathLst>
              <a:path w="5953803" h="1870280">
                <a:moveTo>
                  <a:pt x="0" y="0"/>
                </a:moveTo>
                <a:lnTo>
                  <a:pt x="5953803" y="0"/>
                </a:lnTo>
                <a:lnTo>
                  <a:pt x="5953803" y="1870280"/>
                </a:lnTo>
                <a:lnTo>
                  <a:pt x="0" y="1870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14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089477" y="8454698"/>
            <a:ext cx="1169823" cy="1121736"/>
          </a:xfrm>
          <a:custGeom>
            <a:avLst/>
            <a:gdLst/>
            <a:ahLst/>
            <a:cxnLst/>
            <a:rect l="l" t="t" r="r" b="b"/>
            <a:pathLst>
              <a:path w="1169823" h="1121736">
                <a:moveTo>
                  <a:pt x="0" y="0"/>
                </a:moveTo>
                <a:lnTo>
                  <a:pt x="1169823" y="0"/>
                </a:lnTo>
                <a:lnTo>
                  <a:pt x="1169823" y="1121736"/>
                </a:lnTo>
                <a:lnTo>
                  <a:pt x="0" y="11217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351" t="-1040" b="-1040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91130" y="3680241"/>
            <a:ext cx="16786906" cy="4458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13"/>
              </a:lnSpc>
            </a:pPr>
            <a:r>
              <a:rPr lang="en-US" sz="14018" b="1" spc="-1205" dirty="0">
                <a:solidFill>
                  <a:srgbClr val="093FB4"/>
                </a:solidFill>
                <a:latin typeface="Poppins Bold"/>
                <a:ea typeface="Poppins Bold"/>
                <a:cs typeface="Poppins Bold"/>
                <a:sym typeface="Poppins Bold"/>
              </a:rPr>
              <a:t>MANAGEMENT </a:t>
            </a:r>
            <a:r>
              <a:rPr lang="en-US" sz="14018" b="1" spc="-1205" dirty="0">
                <a:solidFill>
                  <a:srgbClr val="06266C"/>
                </a:solidFill>
                <a:latin typeface="Poppins Bold"/>
                <a:ea typeface="Poppins Bold"/>
                <a:cs typeface="Poppins Bold"/>
                <a:sym typeface="Poppins Bold"/>
              </a:rPr>
              <a:t>COMMITTEE REVIEW</a:t>
            </a:r>
          </a:p>
          <a:p>
            <a:pPr algn="l">
              <a:lnSpc>
                <a:spcPts val="11263"/>
              </a:lnSpc>
            </a:pPr>
            <a:r>
              <a:rPr lang="en-US" sz="15018" b="1" spc="-1291" dirty="0">
                <a:solidFill>
                  <a:srgbClr val="093FB4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1979" y="9201150"/>
            <a:ext cx="3233861" cy="354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93FB4"/>
                </a:solidFill>
                <a:latin typeface="Poppins"/>
                <a:ea typeface="Poppins"/>
                <a:cs typeface="Poppins"/>
                <a:sym typeface="Poppins"/>
              </a:rPr>
              <a:t>AUGUST 17, 2026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41979" y="6271331"/>
            <a:ext cx="8142603" cy="1570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093FB4"/>
                </a:solidFill>
                <a:latin typeface="Poppins Bold"/>
                <a:ea typeface="Poppins Bold"/>
                <a:cs typeface="Poppins Bold"/>
                <a:sym typeface="Poppins Bold"/>
              </a:rPr>
              <a:t>MONTHLY DEPARTMENTAL PERFORMANCE REVIEW</a:t>
            </a:r>
          </a:p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093FB4"/>
                </a:solidFill>
                <a:latin typeface="Poppins"/>
                <a:ea typeface="Poppins"/>
                <a:cs typeface="Poppins"/>
                <a:sym typeface="Poppins"/>
              </a:rPr>
              <a:t>COVERED PERIOD: JUNE TO AUGUST</a:t>
            </a:r>
          </a:p>
          <a:p>
            <a:pPr algn="l">
              <a:lnSpc>
                <a:spcPts val="2940"/>
              </a:lnSpc>
            </a:pPr>
            <a:endParaRPr lang="en-US" sz="2100" dirty="0">
              <a:solidFill>
                <a:srgbClr val="093FB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93FB4"/>
                </a:solidFill>
                <a:latin typeface="Poppins"/>
                <a:ea typeface="Poppins"/>
                <a:cs typeface="Poppins"/>
                <a:sym typeface="Poppins"/>
              </a:rPr>
              <a:t>PRESENTED BY: </a:t>
            </a:r>
            <a:r>
              <a:rPr lang="en-US" sz="2100" dirty="0">
                <a:solidFill>
                  <a:srgbClr val="093FB4"/>
                </a:solidFill>
                <a:latin typeface="Poppins"/>
                <a:ea typeface="Poppins"/>
                <a:cs typeface="Poppins"/>
                <a:sym typeface="Poppins"/>
              </a:rPr>
              <a:t>ERIS ALYANA O. BUENAVENTURA</a:t>
            </a:r>
          </a:p>
        </p:txBody>
      </p:sp>
    </p:spTree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89477" y="8454698"/>
            <a:ext cx="1169823" cy="1121736"/>
          </a:xfrm>
          <a:custGeom>
            <a:avLst/>
            <a:gdLst/>
            <a:ahLst/>
            <a:cxnLst/>
            <a:rect l="l" t="t" r="r" b="b"/>
            <a:pathLst>
              <a:path w="1169823" h="1121736">
                <a:moveTo>
                  <a:pt x="0" y="0"/>
                </a:moveTo>
                <a:lnTo>
                  <a:pt x="1169823" y="0"/>
                </a:lnTo>
                <a:lnTo>
                  <a:pt x="1169823" y="1121736"/>
                </a:lnTo>
                <a:lnTo>
                  <a:pt x="0" y="112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51" t="-1040" b="-104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128220" y="2515234"/>
            <a:ext cx="15102380" cy="4362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H" sz="3200" dirty="0">
                <a:latin typeface="Poppins" panose="00000500000000000000" pitchFamily="2" charset="0"/>
                <a:cs typeface="Poppins" panose="00000500000000000000" pitchFamily="2" charset="0"/>
              </a:rPr>
              <a:t>Present status and progress of IT projects and systems.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H" sz="3200" dirty="0">
                <a:latin typeface="Poppins" panose="00000500000000000000" pitchFamily="2" charset="0"/>
                <a:cs typeface="Poppins" panose="00000500000000000000" pitchFamily="2" charset="0"/>
              </a:rPr>
              <a:t>Review completed, ongoing, and pending initiatives.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H" sz="3200" dirty="0">
                <a:latin typeface="Poppins" panose="00000500000000000000" pitchFamily="2" charset="0"/>
                <a:cs typeface="Poppins" panose="00000500000000000000" pitchFamily="2" charset="0"/>
              </a:rPr>
              <a:t>Identify issues, risks, and project bottlenecks.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H" sz="3200" dirty="0">
                <a:latin typeface="Poppins" panose="00000500000000000000" pitchFamily="2" charset="0"/>
                <a:cs typeface="Poppins" panose="00000500000000000000" pitchFamily="2" charset="0"/>
              </a:rPr>
              <a:t>Highlight IT contributions to operational efficiency.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H" sz="3200" dirty="0">
                <a:latin typeface="Poppins" panose="00000500000000000000" pitchFamily="2" charset="0"/>
                <a:cs typeface="Poppins" panose="00000500000000000000" pitchFamily="2" charset="0"/>
              </a:rPr>
              <a:t>Present project costs, timelines, and resource need.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H" sz="3200" dirty="0">
                <a:latin typeface="Poppins" panose="00000500000000000000" pitchFamily="2" charset="0"/>
                <a:cs typeface="Poppins" panose="00000500000000000000" pitchFamily="2" charset="0"/>
              </a:rPr>
              <a:t>Request management guidance and approvals on key items.</a:t>
            </a:r>
          </a:p>
        </p:txBody>
      </p:sp>
      <p:sp>
        <p:nvSpPr>
          <p:cNvPr id="4" name="Freeform 4"/>
          <p:cNvSpPr/>
          <p:nvPr/>
        </p:nvSpPr>
        <p:spPr>
          <a:xfrm>
            <a:off x="1220781" y="8454698"/>
            <a:ext cx="3485218" cy="981275"/>
          </a:xfrm>
          <a:custGeom>
            <a:avLst/>
            <a:gdLst/>
            <a:ahLst/>
            <a:cxnLst/>
            <a:rect l="l" t="t" r="r" b="b"/>
            <a:pathLst>
              <a:path w="3485218" h="981275">
                <a:moveTo>
                  <a:pt x="0" y="0"/>
                </a:moveTo>
                <a:lnTo>
                  <a:pt x="3485218" y="0"/>
                </a:lnTo>
                <a:lnTo>
                  <a:pt x="3485218" y="981275"/>
                </a:lnTo>
                <a:lnTo>
                  <a:pt x="0" y="981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209675"/>
            <a:ext cx="6962948" cy="1031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8000" b="1" spc="-688" dirty="0">
                <a:solidFill>
                  <a:srgbClr val="093FB4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OBJECTIVES</a:t>
            </a:r>
          </a:p>
        </p:txBody>
      </p: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5">
            <a:extLst>
              <a:ext uri="{FF2B5EF4-FFF2-40B4-BE49-F238E27FC236}">
                <a16:creationId xmlns:a16="http://schemas.microsoft.com/office/drawing/2014/main" id="{7E308550-ED74-49CE-4F13-20E438EC11B1}"/>
              </a:ext>
            </a:extLst>
          </p:cNvPr>
          <p:cNvSpPr txBox="1"/>
          <p:nvPr/>
        </p:nvSpPr>
        <p:spPr>
          <a:xfrm>
            <a:off x="1028700" y="1209675"/>
            <a:ext cx="9867900" cy="941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8000" b="1" spc="-688" dirty="0">
                <a:solidFill>
                  <a:srgbClr val="093FB4"/>
                </a:solidFill>
                <a:latin typeface="Poppins Bold"/>
                <a:ea typeface="Poppins Bold"/>
                <a:cs typeface="Poppins Bold"/>
                <a:sym typeface="Poppins Bold"/>
              </a:rPr>
              <a:t>ORGANIZATIONAL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2226FA1-8659-EE67-FED2-4DCA11DC175B}"/>
              </a:ext>
            </a:extLst>
          </p:cNvPr>
          <p:cNvSpPr txBox="1"/>
          <p:nvPr/>
        </p:nvSpPr>
        <p:spPr>
          <a:xfrm>
            <a:off x="9144000" y="1209675"/>
            <a:ext cx="3314700" cy="941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8000" b="1" spc="-688" dirty="0">
                <a:solidFill>
                  <a:srgbClr val="002060"/>
                </a:solidFill>
                <a:latin typeface="Poppins Bold"/>
                <a:ea typeface="Poppins Bold"/>
                <a:cs typeface="Poppins Bold"/>
                <a:sym typeface="Poppins Bold"/>
              </a:rPr>
              <a:t>CHART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6304002-1F96-F925-B521-DC9D8E9E7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2343" y="2781300"/>
            <a:ext cx="7603314" cy="6077249"/>
          </a:xfrm>
          <a:prstGeom prst="rect">
            <a:avLst/>
          </a:prstGeom>
        </p:spPr>
      </p:pic>
      <p:sp>
        <p:nvSpPr>
          <p:cNvPr id="9" name="Freeform 2">
            <a:extLst>
              <a:ext uri="{FF2B5EF4-FFF2-40B4-BE49-F238E27FC236}">
                <a16:creationId xmlns:a16="http://schemas.microsoft.com/office/drawing/2014/main" id="{BAC60CA0-6333-D68E-65B9-D54186CC6C1F}"/>
              </a:ext>
            </a:extLst>
          </p:cNvPr>
          <p:cNvSpPr/>
          <p:nvPr/>
        </p:nvSpPr>
        <p:spPr>
          <a:xfrm>
            <a:off x="16089477" y="8454698"/>
            <a:ext cx="1169823" cy="1121736"/>
          </a:xfrm>
          <a:custGeom>
            <a:avLst/>
            <a:gdLst/>
            <a:ahLst/>
            <a:cxnLst/>
            <a:rect l="l" t="t" r="r" b="b"/>
            <a:pathLst>
              <a:path w="1169823" h="1121736">
                <a:moveTo>
                  <a:pt x="0" y="0"/>
                </a:moveTo>
                <a:lnTo>
                  <a:pt x="1169823" y="0"/>
                </a:lnTo>
                <a:lnTo>
                  <a:pt x="1169823" y="1121736"/>
                </a:lnTo>
                <a:lnTo>
                  <a:pt x="0" y="11217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351" t="-1040" b="-1040"/>
            </a:stretch>
          </a:blipFill>
        </p:spPr>
      </p:sp>
      <p:sp>
        <p:nvSpPr>
          <p:cNvPr id="11" name="Freeform 4">
            <a:extLst>
              <a:ext uri="{FF2B5EF4-FFF2-40B4-BE49-F238E27FC236}">
                <a16:creationId xmlns:a16="http://schemas.microsoft.com/office/drawing/2014/main" id="{11AA8A84-7525-A643-8D86-81E393AE3347}"/>
              </a:ext>
            </a:extLst>
          </p:cNvPr>
          <p:cNvSpPr/>
          <p:nvPr/>
        </p:nvSpPr>
        <p:spPr>
          <a:xfrm>
            <a:off x="1220781" y="8454698"/>
            <a:ext cx="3485218" cy="981275"/>
          </a:xfrm>
          <a:custGeom>
            <a:avLst/>
            <a:gdLst/>
            <a:ahLst/>
            <a:cxnLst/>
            <a:rect l="l" t="t" r="r" b="b"/>
            <a:pathLst>
              <a:path w="3485218" h="981275">
                <a:moveTo>
                  <a:pt x="0" y="0"/>
                </a:moveTo>
                <a:lnTo>
                  <a:pt x="3485218" y="0"/>
                </a:lnTo>
                <a:lnTo>
                  <a:pt x="3485218" y="981275"/>
                </a:lnTo>
                <a:lnTo>
                  <a:pt x="0" y="9812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417681728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89477" y="8454698"/>
            <a:ext cx="1169823" cy="1121736"/>
          </a:xfrm>
          <a:custGeom>
            <a:avLst/>
            <a:gdLst/>
            <a:ahLst/>
            <a:cxnLst/>
            <a:rect l="l" t="t" r="r" b="b"/>
            <a:pathLst>
              <a:path w="1169823" h="1121736">
                <a:moveTo>
                  <a:pt x="0" y="0"/>
                </a:moveTo>
                <a:lnTo>
                  <a:pt x="1169823" y="0"/>
                </a:lnTo>
                <a:lnTo>
                  <a:pt x="1169823" y="1121736"/>
                </a:lnTo>
                <a:lnTo>
                  <a:pt x="0" y="112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51" t="-1040" b="-1040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058957" y="1209675"/>
            <a:ext cx="5876243" cy="941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8000" b="1" spc="-688" dirty="0">
                <a:solidFill>
                  <a:srgbClr val="06266C"/>
                </a:solidFill>
                <a:latin typeface="Poppins Bold"/>
                <a:ea typeface="Poppins Bold"/>
                <a:cs typeface="Poppins Bold"/>
                <a:sym typeface="Poppins Bold"/>
              </a:rPr>
              <a:t>OVERVIEW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209675"/>
            <a:ext cx="8932017" cy="937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800"/>
              </a:lnSpc>
            </a:pPr>
            <a:r>
              <a:rPr lang="en-PH" sz="8000" dirty="0">
                <a:solidFill>
                  <a:srgbClr val="0542CD"/>
                </a:solidFill>
                <a:latin typeface="Poppins Bold" panose="00000800000000000000" charset="0"/>
                <a:cs typeface="Poppins Bold" panose="00000800000000000000" charset="0"/>
              </a:rPr>
              <a:t>IT DEPARTMENT</a:t>
            </a:r>
            <a:endParaRPr lang="en-US" sz="8000" b="1" spc="-688" dirty="0">
              <a:solidFill>
                <a:srgbClr val="0542CD"/>
              </a:solidFill>
              <a:latin typeface="Poppins Bold" panose="00000800000000000000" charset="0"/>
              <a:ea typeface="Poppins Bold"/>
              <a:cs typeface="Poppins Bold" panose="00000800000000000000" charset="0"/>
              <a:sym typeface="Poppi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38200" y="2220064"/>
            <a:ext cx="16421099" cy="60460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PH" sz="2200" b="1" dirty="0">
                <a:solidFill>
                  <a:schemeClr val="tx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Department Function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H" sz="2200" dirty="0">
                <a:solidFill>
                  <a:schemeClr val="tx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Responsible for the company’s IT systems, infrastructure, and digital project implementation to support business operations.</a:t>
            </a:r>
          </a:p>
          <a:p>
            <a:pPr algn="just">
              <a:lnSpc>
                <a:spcPct val="150000"/>
              </a:lnSpc>
            </a:pPr>
            <a:r>
              <a:rPr lang="en-PH" sz="2200" b="1" dirty="0">
                <a:solidFill>
                  <a:schemeClr val="tx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Manpower Status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H" sz="2200" dirty="0">
                <a:solidFill>
                  <a:schemeClr val="tx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IT Personnel: 1 (Solo IT Support) and End-to-end IT operations (development, maintenance, support, deployment)</a:t>
            </a:r>
          </a:p>
          <a:p>
            <a:pPr algn="just">
              <a:lnSpc>
                <a:spcPct val="150000"/>
              </a:lnSpc>
            </a:pPr>
            <a:r>
              <a:rPr lang="en-PH" sz="2200" b="1" dirty="0">
                <a:solidFill>
                  <a:schemeClr val="tx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Key Responsibilities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H" sz="2200" dirty="0">
                <a:solidFill>
                  <a:schemeClr val="tx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Technical support for all departments</a:t>
            </a:r>
          </a:p>
          <a:p>
            <a:pPr algn="just">
              <a:lnSpc>
                <a:spcPct val="150000"/>
              </a:lnSpc>
            </a:pPr>
            <a:r>
              <a:rPr lang="en-PH" sz="2200" b="1" dirty="0">
                <a:solidFill>
                  <a:schemeClr val="tx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Current Workload Summary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H" sz="2200" dirty="0">
                <a:solidFill>
                  <a:schemeClr val="tx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Completed Projects: 6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H" sz="2200" dirty="0">
                <a:solidFill>
                  <a:schemeClr val="tx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Ongoing Projects: 3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H" sz="2200" dirty="0">
                <a:solidFill>
                  <a:schemeClr val="tx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On Hold Projects: 2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H" sz="2200" dirty="0">
                <a:solidFill>
                  <a:schemeClr val="tx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Not Started Projects: 2</a:t>
            </a:r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0DF93184-20FB-A2D2-C492-E0A46045D47D}"/>
              </a:ext>
            </a:extLst>
          </p:cNvPr>
          <p:cNvSpPr/>
          <p:nvPr/>
        </p:nvSpPr>
        <p:spPr>
          <a:xfrm>
            <a:off x="838200" y="8451011"/>
            <a:ext cx="3485218" cy="981275"/>
          </a:xfrm>
          <a:custGeom>
            <a:avLst/>
            <a:gdLst/>
            <a:ahLst/>
            <a:cxnLst/>
            <a:rect l="l" t="t" r="r" b="b"/>
            <a:pathLst>
              <a:path w="3485218" h="981275">
                <a:moveTo>
                  <a:pt x="0" y="0"/>
                </a:moveTo>
                <a:lnTo>
                  <a:pt x="3485218" y="0"/>
                </a:lnTo>
                <a:lnTo>
                  <a:pt x="3485218" y="981275"/>
                </a:lnTo>
                <a:lnTo>
                  <a:pt x="0" y="981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69811" y="8524928"/>
            <a:ext cx="1169823" cy="1121736"/>
          </a:xfrm>
          <a:custGeom>
            <a:avLst/>
            <a:gdLst/>
            <a:ahLst/>
            <a:cxnLst/>
            <a:rect l="l" t="t" r="r" b="b"/>
            <a:pathLst>
              <a:path w="1169823" h="1121736">
                <a:moveTo>
                  <a:pt x="0" y="0"/>
                </a:moveTo>
                <a:lnTo>
                  <a:pt x="1169823" y="0"/>
                </a:lnTo>
                <a:lnTo>
                  <a:pt x="1169823" y="1121736"/>
                </a:lnTo>
                <a:lnTo>
                  <a:pt x="0" y="11217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351" t="-1040" b="-104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8524928"/>
            <a:ext cx="3485218" cy="981275"/>
          </a:xfrm>
          <a:custGeom>
            <a:avLst/>
            <a:gdLst/>
            <a:ahLst/>
            <a:cxnLst/>
            <a:rect l="l" t="t" r="r" b="b"/>
            <a:pathLst>
              <a:path w="3485218" h="981275">
                <a:moveTo>
                  <a:pt x="0" y="0"/>
                </a:moveTo>
                <a:lnTo>
                  <a:pt x="3485218" y="0"/>
                </a:lnTo>
                <a:lnTo>
                  <a:pt x="3485218" y="981275"/>
                </a:lnTo>
                <a:lnTo>
                  <a:pt x="0" y="9812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788046" y="1209675"/>
            <a:ext cx="11710349" cy="1031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8000" b="1" spc="-688">
                <a:solidFill>
                  <a:srgbClr val="06266C"/>
                </a:solidFill>
                <a:latin typeface="Poppins Bold"/>
                <a:ea typeface="Poppins Bold"/>
                <a:cs typeface="Poppins Bold"/>
                <a:sym typeface="Poppins Bold"/>
              </a:rPr>
              <a:t>HIGHLIGHTS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209675"/>
            <a:ext cx="8932017" cy="1031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8000" b="1" spc="-688" dirty="0">
                <a:solidFill>
                  <a:srgbClr val="093FB4"/>
                </a:solidFill>
                <a:latin typeface="Poppins Bold"/>
                <a:ea typeface="Poppins Bold"/>
                <a:cs typeface="Poppins Bold"/>
                <a:sym typeface="Poppins Bold"/>
              </a:rPr>
              <a:t>MONTHLY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E1457DB-A9A3-8B1B-0D1F-4068EECD1F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092920"/>
              </p:ext>
            </p:extLst>
          </p:nvPr>
        </p:nvGraphicFramePr>
        <p:xfrm>
          <a:off x="1028700" y="2241551"/>
          <a:ext cx="16230599" cy="6238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5410200">
                  <a:extLst>
                    <a:ext uri="{9D8B030D-6E8A-4147-A177-3AD203B41FA5}">
                      <a16:colId xmlns:a16="http://schemas.microsoft.com/office/drawing/2014/main" val="3062002865"/>
                    </a:ext>
                  </a:extLst>
                </a:gridCol>
                <a:gridCol w="3533030">
                  <a:extLst>
                    <a:ext uri="{9D8B030D-6E8A-4147-A177-3AD203B41FA5}">
                      <a16:colId xmlns:a16="http://schemas.microsoft.com/office/drawing/2014/main" val="351370800"/>
                    </a:ext>
                  </a:extLst>
                </a:gridCol>
                <a:gridCol w="7287369">
                  <a:extLst>
                    <a:ext uri="{9D8B030D-6E8A-4147-A177-3AD203B41FA5}">
                      <a16:colId xmlns:a16="http://schemas.microsoft.com/office/drawing/2014/main" val="1690090990"/>
                    </a:ext>
                  </a:extLst>
                </a:gridCol>
              </a:tblGrid>
              <a:tr h="37835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PH" sz="2200" b="1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Item</a:t>
                      </a:r>
                    </a:p>
                  </a:txBody>
                  <a:tcPr marL="52627" marR="52627" marT="26314" marB="2631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PH" sz="2200" b="1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Status</a:t>
                      </a:r>
                    </a:p>
                  </a:txBody>
                  <a:tcPr marL="52627" marR="52627" marT="26314" marB="2631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PH" sz="2200" b="1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Impact</a:t>
                      </a:r>
                    </a:p>
                  </a:txBody>
                  <a:tcPr marL="52627" marR="52627" marT="26314" marB="26314" anchor="ctr"/>
                </a:tc>
                <a:extLst>
                  <a:ext uri="{0D108BD9-81ED-4DB2-BD59-A6C34878D82A}">
                    <a16:rowId xmlns:a16="http://schemas.microsoft.com/office/drawing/2014/main" val="3241911616"/>
                  </a:ext>
                </a:extLst>
              </a:tr>
              <a:tr h="70099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PH" sz="2200" b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EAMS App and Management</a:t>
                      </a:r>
                    </a:p>
                  </a:txBody>
                  <a:tcPr marL="52627" marR="52627" marT="26314" marB="2631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PH" sz="2200" b="0" dirty="0">
                          <a:solidFill>
                            <a:srgbClr val="0542CD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Completed (100%)</a:t>
                      </a:r>
                    </a:p>
                  </a:txBody>
                  <a:tcPr marL="52627" marR="52627" marT="26314" marB="2631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PH" sz="2200" b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Improves operational monitoring, management, and process efficiency</a:t>
                      </a:r>
                    </a:p>
                  </a:txBody>
                  <a:tcPr marL="52627" marR="52627" marT="26314" marB="26314" anchor="ctr"/>
                </a:tc>
                <a:extLst>
                  <a:ext uri="{0D108BD9-81ED-4DB2-BD59-A6C34878D82A}">
                    <a16:rowId xmlns:a16="http://schemas.microsoft.com/office/drawing/2014/main" val="3161712892"/>
                  </a:ext>
                </a:extLst>
              </a:tr>
              <a:tr h="70099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PH" sz="2200" b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Company Printer</a:t>
                      </a:r>
                    </a:p>
                  </a:txBody>
                  <a:tcPr marL="52627" marR="52627" marT="26314" marB="2631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PH" sz="2200" b="0" dirty="0">
                          <a:solidFill>
                            <a:srgbClr val="0542CD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Completed (100%)</a:t>
                      </a:r>
                    </a:p>
                  </a:txBody>
                  <a:tcPr marL="52627" marR="52627" marT="26314" marB="2631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PH" sz="2200" b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Supports daily office operations and document processing requirements</a:t>
                      </a:r>
                    </a:p>
                  </a:txBody>
                  <a:tcPr marL="52627" marR="52627" marT="26314" marB="26314" anchor="ctr"/>
                </a:tc>
                <a:extLst>
                  <a:ext uri="{0D108BD9-81ED-4DB2-BD59-A6C34878D82A}">
                    <a16:rowId xmlns:a16="http://schemas.microsoft.com/office/drawing/2014/main" val="2642866868"/>
                  </a:ext>
                </a:extLst>
              </a:tr>
              <a:tr h="724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PH" sz="2200" b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Canva, </a:t>
                      </a:r>
                      <a:r>
                        <a:rPr lang="en-PH" sz="2200" b="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GDrive</a:t>
                      </a:r>
                      <a:r>
                        <a:rPr lang="en-PH" sz="2200" b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and Zoom Implementation</a:t>
                      </a:r>
                    </a:p>
                  </a:txBody>
                  <a:tcPr marL="52627" marR="52627" marT="26314" marB="2631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PH" sz="2200" b="0" dirty="0">
                          <a:solidFill>
                            <a:srgbClr val="0542CD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Completed (100%)</a:t>
                      </a:r>
                    </a:p>
                  </a:txBody>
                  <a:tcPr marL="52627" marR="52627" marT="26314" marB="2631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PH" sz="2200" b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Improves collaboration, file management, communication, and productivity</a:t>
                      </a:r>
                    </a:p>
                  </a:txBody>
                  <a:tcPr marL="52627" marR="52627" marT="26314" marB="26314" anchor="ctr"/>
                </a:tc>
                <a:extLst>
                  <a:ext uri="{0D108BD9-81ED-4DB2-BD59-A6C34878D82A}">
                    <a16:rowId xmlns:a16="http://schemas.microsoft.com/office/drawing/2014/main" val="2737773851"/>
                  </a:ext>
                </a:extLst>
              </a:tr>
              <a:tr h="724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PH" sz="2200" b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Company Jacket</a:t>
                      </a:r>
                    </a:p>
                  </a:txBody>
                  <a:tcPr marL="52627" marR="52627" marT="26314" marB="26314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2200" b="0" dirty="0">
                          <a:solidFill>
                            <a:srgbClr val="0542CD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Completed (100%)</a:t>
                      </a:r>
                    </a:p>
                  </a:txBody>
                  <a:tcPr marL="52627" marR="52627" marT="26314" marB="2631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PH" sz="24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Strengthened company branding and professional appearance.</a:t>
                      </a:r>
                      <a:endParaRPr lang="en-PH" sz="2200" b="0" dirty="0">
                        <a:solidFill>
                          <a:schemeClr val="tx2">
                            <a:lumMod val="50000"/>
                          </a:schemeClr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52627" marR="52627" marT="26314" marB="26314" anchor="ctr"/>
                </a:tc>
                <a:extLst>
                  <a:ext uri="{0D108BD9-81ED-4DB2-BD59-A6C34878D82A}">
                    <a16:rowId xmlns:a16="http://schemas.microsoft.com/office/drawing/2014/main" val="178188104"/>
                  </a:ext>
                </a:extLst>
              </a:tr>
              <a:tr h="724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PH" sz="2200" b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 Render ID Design For SP</a:t>
                      </a:r>
                    </a:p>
                  </a:txBody>
                  <a:tcPr marL="52627" marR="52627" marT="26314" marB="2631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PH" sz="2200" b="0" dirty="0">
                          <a:solidFill>
                            <a:srgbClr val="0C7E1F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Ongoing (80%)</a:t>
                      </a:r>
                    </a:p>
                  </a:txBody>
                  <a:tcPr marL="52627" marR="52627" marT="26314" marB="2631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PH" sz="2200" b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Provides updated ID designs for management approval and implementation</a:t>
                      </a:r>
                    </a:p>
                  </a:txBody>
                  <a:tcPr marL="52627" marR="52627" marT="26314" marB="26314" anchor="ctr"/>
                </a:tc>
                <a:extLst>
                  <a:ext uri="{0D108BD9-81ED-4DB2-BD59-A6C34878D82A}">
                    <a16:rowId xmlns:a16="http://schemas.microsoft.com/office/drawing/2014/main" val="844207780"/>
                  </a:ext>
                </a:extLst>
              </a:tr>
              <a:tr h="70099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PH" sz="2200" b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 Render ID Design For Poly</a:t>
                      </a:r>
                    </a:p>
                  </a:txBody>
                  <a:tcPr marL="52627" marR="52627" marT="26314" marB="2631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PH" sz="2200" b="0" dirty="0">
                          <a:solidFill>
                            <a:srgbClr val="0C7E1F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Ongoing (30%)</a:t>
                      </a:r>
                    </a:p>
                  </a:txBody>
                  <a:tcPr marL="52627" marR="52627" marT="26314" marB="2631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PH" sz="2200" b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Prepares ID design for Poly implementation, pending SP advisory/approval</a:t>
                      </a:r>
                    </a:p>
                  </a:txBody>
                  <a:tcPr marL="52627" marR="52627" marT="26314" marB="26314" anchor="ctr"/>
                </a:tc>
                <a:extLst>
                  <a:ext uri="{0D108BD9-81ED-4DB2-BD59-A6C34878D82A}">
                    <a16:rowId xmlns:a16="http://schemas.microsoft.com/office/drawing/2014/main" val="3189287408"/>
                  </a:ext>
                </a:extLst>
              </a:tr>
              <a:tr h="724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PH" sz="2200" b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Backup/Archive Files</a:t>
                      </a:r>
                    </a:p>
                  </a:txBody>
                  <a:tcPr marL="52627" marR="52627" marT="26314" marB="2631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PH" sz="2200" b="0" dirty="0">
                          <a:solidFill>
                            <a:srgbClr val="0C7E1F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Ongoing (1%)</a:t>
                      </a:r>
                    </a:p>
                  </a:txBody>
                  <a:tcPr marL="52627" marR="52627" marT="26314" marB="2631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PH" sz="2200" b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Supports data protection, file recovery, and organized records management</a:t>
                      </a:r>
                    </a:p>
                  </a:txBody>
                  <a:tcPr marL="52627" marR="52627" marT="26314" marB="26314" anchor="ctr"/>
                </a:tc>
                <a:extLst>
                  <a:ext uri="{0D108BD9-81ED-4DB2-BD59-A6C34878D82A}">
                    <a16:rowId xmlns:a16="http://schemas.microsoft.com/office/drawing/2014/main" val="325996307"/>
                  </a:ext>
                </a:extLst>
              </a:tr>
              <a:tr h="724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PH" sz="2200" b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Canary Biometric Internet Connection</a:t>
                      </a:r>
                    </a:p>
                  </a:txBody>
                  <a:tcPr marL="52627" marR="52627" marT="26314" marB="2631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PH" sz="2200" b="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Not Started (0%)</a:t>
                      </a:r>
                    </a:p>
                  </a:txBody>
                  <a:tcPr marL="52627" marR="52627" marT="26314" marB="2631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PH" sz="2200" b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Planned to improve biometric connectivity, data transmission, and system reliability</a:t>
                      </a:r>
                    </a:p>
                  </a:txBody>
                  <a:tcPr marL="52627" marR="52627" marT="26314" marB="26314" anchor="ctr"/>
                </a:tc>
                <a:extLst>
                  <a:ext uri="{0D108BD9-81ED-4DB2-BD59-A6C34878D82A}">
                    <a16:rowId xmlns:a16="http://schemas.microsoft.com/office/drawing/2014/main" val="1694652520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89478" y="8593764"/>
            <a:ext cx="1169823" cy="1121736"/>
          </a:xfrm>
          <a:custGeom>
            <a:avLst/>
            <a:gdLst/>
            <a:ahLst/>
            <a:cxnLst/>
            <a:rect l="l" t="t" r="r" b="b"/>
            <a:pathLst>
              <a:path w="1169823" h="1121736">
                <a:moveTo>
                  <a:pt x="0" y="0"/>
                </a:moveTo>
                <a:lnTo>
                  <a:pt x="1169823" y="0"/>
                </a:lnTo>
                <a:lnTo>
                  <a:pt x="1169823" y="1121736"/>
                </a:lnTo>
                <a:lnTo>
                  <a:pt x="0" y="112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51" t="-1040" b="-104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62000" y="8658025"/>
            <a:ext cx="3485218" cy="981275"/>
          </a:xfrm>
          <a:custGeom>
            <a:avLst/>
            <a:gdLst/>
            <a:ahLst/>
            <a:cxnLst/>
            <a:rect l="l" t="t" r="r" b="b"/>
            <a:pathLst>
              <a:path w="3485218" h="981275">
                <a:moveTo>
                  <a:pt x="0" y="0"/>
                </a:moveTo>
                <a:lnTo>
                  <a:pt x="3485218" y="0"/>
                </a:lnTo>
                <a:lnTo>
                  <a:pt x="3485218" y="981275"/>
                </a:lnTo>
                <a:lnTo>
                  <a:pt x="0" y="981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515600" y="1209675"/>
            <a:ext cx="6357153" cy="8910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600" b="1" spc="-688" dirty="0">
                <a:solidFill>
                  <a:srgbClr val="06266C"/>
                </a:solidFill>
                <a:latin typeface="Poppins Bold"/>
                <a:ea typeface="Poppins Bold"/>
                <a:cs typeface="Poppins Bold"/>
                <a:sym typeface="Poppins Bold"/>
              </a:rPr>
              <a:t>DASHBOARD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699" y="1209675"/>
            <a:ext cx="11710349" cy="8910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600" b="1" spc="-688" dirty="0">
                <a:solidFill>
                  <a:srgbClr val="093FB4"/>
                </a:solidFill>
                <a:latin typeface="Poppins Bold"/>
                <a:ea typeface="Poppins Bold"/>
                <a:cs typeface="Poppins Bold"/>
                <a:sym typeface="Poppins Bold"/>
              </a:rPr>
              <a:t>IT PROJECT PERFORMANCE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B4017063-C1A7-B01C-98C7-D45389C833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1799923"/>
              </p:ext>
            </p:extLst>
          </p:nvPr>
        </p:nvGraphicFramePr>
        <p:xfrm>
          <a:off x="914401" y="2476500"/>
          <a:ext cx="6172200" cy="599249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2915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PH" sz="2300" b="1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PH" sz="2300" b="1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Count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PH" sz="2300" b="1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Remarks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915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PH" sz="23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Completed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PH" sz="23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PH" sz="23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Successfully delivered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915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PH" sz="23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Ongoing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PH" sz="23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PH" sz="23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Progressing as planned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3302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PH" sz="23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On Hold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PH" sz="23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PH" sz="23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Awaiting approval for continuation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3302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PH" sz="23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Not Started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PH" sz="23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PH" sz="23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Scheduled and awaiting approval to start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1" name="Picture 20">
            <a:extLst>
              <a:ext uri="{FF2B5EF4-FFF2-40B4-BE49-F238E27FC236}">
                <a16:creationId xmlns:a16="http://schemas.microsoft.com/office/drawing/2014/main" id="{B8480289-AB51-93BC-07EC-3AE62A5615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2476500"/>
            <a:ext cx="9823027" cy="5992495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89477" y="8454698"/>
            <a:ext cx="1169823" cy="1121736"/>
          </a:xfrm>
          <a:custGeom>
            <a:avLst/>
            <a:gdLst/>
            <a:ahLst/>
            <a:cxnLst/>
            <a:rect l="l" t="t" r="r" b="b"/>
            <a:pathLst>
              <a:path w="1169823" h="1121736">
                <a:moveTo>
                  <a:pt x="0" y="0"/>
                </a:moveTo>
                <a:lnTo>
                  <a:pt x="1169823" y="0"/>
                </a:lnTo>
                <a:lnTo>
                  <a:pt x="1169823" y="1121736"/>
                </a:lnTo>
                <a:lnTo>
                  <a:pt x="0" y="112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51" t="-1040" b="-104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20781" y="8454698"/>
            <a:ext cx="3485218" cy="981275"/>
          </a:xfrm>
          <a:custGeom>
            <a:avLst/>
            <a:gdLst/>
            <a:ahLst/>
            <a:cxnLst/>
            <a:rect l="l" t="t" r="r" b="b"/>
            <a:pathLst>
              <a:path w="3485218" h="981275">
                <a:moveTo>
                  <a:pt x="0" y="0"/>
                </a:moveTo>
                <a:lnTo>
                  <a:pt x="3485218" y="0"/>
                </a:lnTo>
                <a:lnTo>
                  <a:pt x="3485218" y="981275"/>
                </a:lnTo>
                <a:lnTo>
                  <a:pt x="0" y="981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225030" y="1209675"/>
            <a:ext cx="11710349" cy="1031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8000" b="1" spc="-688">
                <a:solidFill>
                  <a:srgbClr val="06266C"/>
                </a:solidFill>
                <a:latin typeface="Poppins Bold"/>
                <a:ea typeface="Poppins Bold"/>
                <a:cs typeface="Poppins Bold"/>
                <a:sym typeface="Poppins Bold"/>
              </a:rPr>
              <a:t>CONTRIBUTION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209675"/>
            <a:ext cx="8932017" cy="1031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8000" b="1" spc="-688" dirty="0">
                <a:solidFill>
                  <a:srgbClr val="093FB4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C59CA03-D8E0-C490-BBA0-52CBD45163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4034634"/>
              </p:ext>
            </p:extLst>
          </p:nvPr>
        </p:nvGraphicFramePr>
        <p:xfrm>
          <a:off x="2204161" y="2681930"/>
          <a:ext cx="13879677" cy="49231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415569">
                  <a:extLst>
                    <a:ext uri="{9D8B030D-6E8A-4147-A177-3AD203B41FA5}">
                      <a16:colId xmlns:a16="http://schemas.microsoft.com/office/drawing/2014/main" val="2026268797"/>
                    </a:ext>
                  </a:extLst>
                </a:gridCol>
                <a:gridCol w="8464108">
                  <a:extLst>
                    <a:ext uri="{9D8B030D-6E8A-4147-A177-3AD203B41FA5}">
                      <a16:colId xmlns:a16="http://schemas.microsoft.com/office/drawing/2014/main" val="17655993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PH" sz="2800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Project</a:t>
                      </a:r>
                      <a:endParaRPr lang="en-PH" sz="28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marL="65594" marR="65594" marT="32797" marB="327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PH" sz="2800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Contribution</a:t>
                      </a:r>
                      <a:endParaRPr lang="en-PH" sz="28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marL="65594" marR="65594" marT="32797" marB="32797" anchor="ctr"/>
                </a:tc>
                <a:extLst>
                  <a:ext uri="{0D108BD9-81ED-4DB2-BD59-A6C34878D82A}">
                    <a16:rowId xmlns:a16="http://schemas.microsoft.com/office/drawing/2014/main" val="3878278186"/>
                  </a:ext>
                </a:extLst>
              </a:tr>
              <a:tr h="262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PH" sz="2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Shared Calendar</a:t>
                      </a:r>
                    </a:p>
                  </a:txBody>
                  <a:tcPr marL="65594" marR="65594" marT="32797" marB="327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PH" sz="28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Easier scheduling and coordination</a:t>
                      </a:r>
                    </a:p>
                  </a:txBody>
                  <a:tcPr marL="65594" marR="65594" marT="32797" marB="32797" anchor="ctr"/>
                </a:tc>
                <a:extLst>
                  <a:ext uri="{0D108BD9-81ED-4DB2-BD59-A6C34878D82A}">
                    <a16:rowId xmlns:a16="http://schemas.microsoft.com/office/drawing/2014/main" val="486846710"/>
                  </a:ext>
                </a:extLst>
              </a:tr>
              <a:tr h="262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PH" sz="2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Calling Card</a:t>
                      </a:r>
                    </a:p>
                  </a:txBody>
                  <a:tcPr marL="65594" marR="65594" marT="32797" marB="327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PH" sz="2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Professional calling cards for leads</a:t>
                      </a:r>
                    </a:p>
                  </a:txBody>
                  <a:tcPr marL="65594" marR="65594" marT="32797" marB="32797" anchor="ctr"/>
                </a:tc>
                <a:extLst>
                  <a:ext uri="{0D108BD9-81ED-4DB2-BD59-A6C34878D82A}">
                    <a16:rowId xmlns:a16="http://schemas.microsoft.com/office/drawing/2014/main" val="4042833139"/>
                  </a:ext>
                </a:extLst>
              </a:tr>
              <a:tr h="262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PH" sz="2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Company Printer</a:t>
                      </a:r>
                    </a:p>
                  </a:txBody>
                  <a:tcPr marL="65594" marR="65594" marT="32797" marB="327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PH" sz="2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Supports all department printing needs</a:t>
                      </a:r>
                    </a:p>
                  </a:txBody>
                  <a:tcPr marL="65594" marR="65594" marT="32797" marB="32797" anchor="ctr"/>
                </a:tc>
                <a:extLst>
                  <a:ext uri="{0D108BD9-81ED-4DB2-BD59-A6C34878D82A}">
                    <a16:rowId xmlns:a16="http://schemas.microsoft.com/office/drawing/2014/main" val="3552376426"/>
                  </a:ext>
                </a:extLst>
              </a:tr>
              <a:tr h="262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PH" sz="2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Canva/</a:t>
                      </a:r>
                      <a:r>
                        <a:rPr lang="en-PH" sz="280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GDrive</a:t>
                      </a:r>
                      <a:r>
                        <a:rPr lang="en-PH" sz="2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/Zoom</a:t>
                      </a:r>
                    </a:p>
                  </a:txBody>
                  <a:tcPr marL="65594" marR="65594" marT="32797" marB="327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PH" sz="2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Helps with collaboration and file sharing</a:t>
                      </a:r>
                    </a:p>
                  </a:txBody>
                  <a:tcPr marL="65594" marR="65594" marT="32797" marB="32797" anchor="ctr"/>
                </a:tc>
                <a:extLst>
                  <a:ext uri="{0D108BD9-81ED-4DB2-BD59-A6C34878D82A}">
                    <a16:rowId xmlns:a16="http://schemas.microsoft.com/office/drawing/2014/main" val="3413568295"/>
                  </a:ext>
                </a:extLst>
              </a:tr>
              <a:tr h="262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PH" sz="2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EAMS App</a:t>
                      </a:r>
                    </a:p>
                  </a:txBody>
                  <a:tcPr marL="65594" marR="65594" marT="32797" marB="327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PH" sz="2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Easier employee attendance monitoring</a:t>
                      </a:r>
                    </a:p>
                  </a:txBody>
                  <a:tcPr marL="65594" marR="65594" marT="32797" marB="32797" anchor="ctr"/>
                </a:tc>
                <a:extLst>
                  <a:ext uri="{0D108BD9-81ED-4DB2-BD59-A6C34878D82A}">
                    <a16:rowId xmlns:a16="http://schemas.microsoft.com/office/drawing/2014/main" val="2317113503"/>
                  </a:ext>
                </a:extLst>
              </a:tr>
              <a:tr h="4591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PH" sz="2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Canary Biometric</a:t>
                      </a:r>
                    </a:p>
                  </a:txBody>
                  <a:tcPr marL="65594" marR="65594" marT="32797" marB="327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PH" sz="2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Stable internet connection for biometric access</a:t>
                      </a:r>
                    </a:p>
                  </a:txBody>
                  <a:tcPr marL="65594" marR="65594" marT="32797" marB="32797" anchor="ctr"/>
                </a:tc>
                <a:extLst>
                  <a:ext uri="{0D108BD9-81ED-4DB2-BD59-A6C34878D82A}">
                    <a16:rowId xmlns:a16="http://schemas.microsoft.com/office/drawing/2014/main" val="2563832306"/>
                  </a:ext>
                </a:extLst>
              </a:tr>
              <a:tr h="4591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PH" sz="2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Backup/Archive Files</a:t>
                      </a:r>
                    </a:p>
                  </a:txBody>
                  <a:tcPr marL="65594" marR="65594" marT="32797" marB="327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PH" sz="2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Keeps important files backed up and organized</a:t>
                      </a:r>
                    </a:p>
                  </a:txBody>
                  <a:tcPr marL="65594" marR="65594" marT="32797" marB="32797" anchor="ctr"/>
                </a:tc>
                <a:extLst>
                  <a:ext uri="{0D108BD9-81ED-4DB2-BD59-A6C34878D82A}">
                    <a16:rowId xmlns:a16="http://schemas.microsoft.com/office/drawing/2014/main" val="2005058305"/>
                  </a:ext>
                </a:extLst>
              </a:tr>
              <a:tr h="262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PH" sz="280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Saveplus</a:t>
                      </a:r>
                      <a:r>
                        <a:rPr lang="en-PH" sz="2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ID Card Design</a:t>
                      </a:r>
                    </a:p>
                  </a:txBody>
                  <a:tcPr marL="65594" marR="65594" marT="32797" marB="327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PH" sz="2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Updated ID design for </a:t>
                      </a:r>
                      <a:r>
                        <a:rPr lang="en-PH" sz="280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Saveplus</a:t>
                      </a:r>
                      <a:endParaRPr lang="en-PH" sz="28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marL="65594" marR="65594" marT="32797" marB="32797" anchor="ctr"/>
                </a:tc>
                <a:extLst>
                  <a:ext uri="{0D108BD9-81ED-4DB2-BD59-A6C34878D82A}">
                    <a16:rowId xmlns:a16="http://schemas.microsoft.com/office/drawing/2014/main" val="2784848322"/>
                  </a:ext>
                </a:extLst>
              </a:tr>
              <a:tr h="262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PH" sz="280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Saveplus</a:t>
                      </a:r>
                      <a:r>
                        <a:rPr lang="en-PH" sz="2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Jacket</a:t>
                      </a:r>
                    </a:p>
                  </a:txBody>
                  <a:tcPr marL="65594" marR="65594" marT="32797" marB="3279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PH" sz="2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Company jackets for </a:t>
                      </a:r>
                      <a:r>
                        <a:rPr lang="en-PH" sz="280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Saveplus</a:t>
                      </a:r>
                      <a:r>
                        <a:rPr lang="en-PH" sz="28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admin</a:t>
                      </a:r>
                    </a:p>
                  </a:txBody>
                  <a:tcPr marL="65594" marR="65594" marT="32797" marB="32797" anchor="ctr"/>
                </a:tc>
                <a:extLst>
                  <a:ext uri="{0D108BD9-81ED-4DB2-BD59-A6C34878D82A}">
                    <a16:rowId xmlns:a16="http://schemas.microsoft.com/office/drawing/2014/main" val="248675331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89477" y="8454698"/>
            <a:ext cx="1169823" cy="1121736"/>
          </a:xfrm>
          <a:custGeom>
            <a:avLst/>
            <a:gdLst/>
            <a:ahLst/>
            <a:cxnLst/>
            <a:rect l="l" t="t" r="r" b="b"/>
            <a:pathLst>
              <a:path w="1169823" h="1121736">
                <a:moveTo>
                  <a:pt x="0" y="0"/>
                </a:moveTo>
                <a:lnTo>
                  <a:pt x="1169823" y="0"/>
                </a:lnTo>
                <a:lnTo>
                  <a:pt x="1169823" y="1121736"/>
                </a:lnTo>
                <a:lnTo>
                  <a:pt x="0" y="112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51" t="-1040" b="-104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20781" y="8454698"/>
            <a:ext cx="3485218" cy="981275"/>
          </a:xfrm>
          <a:custGeom>
            <a:avLst/>
            <a:gdLst/>
            <a:ahLst/>
            <a:cxnLst/>
            <a:rect l="l" t="t" r="r" b="b"/>
            <a:pathLst>
              <a:path w="3485218" h="981275">
                <a:moveTo>
                  <a:pt x="0" y="0"/>
                </a:moveTo>
                <a:lnTo>
                  <a:pt x="3485218" y="0"/>
                </a:lnTo>
                <a:lnTo>
                  <a:pt x="3485218" y="981275"/>
                </a:lnTo>
                <a:lnTo>
                  <a:pt x="0" y="981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1209675"/>
            <a:ext cx="16230600" cy="1031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8000" b="1" spc="-688" dirty="0">
                <a:solidFill>
                  <a:srgbClr val="093FB4"/>
                </a:solidFill>
                <a:latin typeface="Poppins Bold"/>
                <a:ea typeface="Poppins Bold"/>
                <a:cs typeface="Poppins Bold"/>
                <a:sym typeface="Poppins Bold"/>
              </a:rPr>
              <a:t>ISSUES/CONCERNS</a:t>
            </a:r>
            <a:r>
              <a:rPr lang="en-US" sz="8000" b="1" spc="-688" dirty="0">
                <a:solidFill>
                  <a:srgbClr val="06266C"/>
                </a:solidFill>
                <a:latin typeface="Poppins Bold"/>
                <a:ea typeface="Poppins Bold"/>
                <a:cs typeface="Poppins Bold"/>
                <a:sym typeface="Poppins Bold"/>
              </a:rPr>
              <a:t>/ BOTTLENECKS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36395B7-0C52-FBC0-0A6C-5736579670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8345477"/>
              </p:ext>
            </p:extLst>
          </p:nvPr>
        </p:nvGraphicFramePr>
        <p:xfrm>
          <a:off x="1006577" y="2628900"/>
          <a:ext cx="16187925" cy="232638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237585">
                  <a:extLst>
                    <a:ext uri="{9D8B030D-6E8A-4147-A177-3AD203B41FA5}">
                      <a16:colId xmlns:a16="http://schemas.microsoft.com/office/drawing/2014/main" val="2967841579"/>
                    </a:ext>
                  </a:extLst>
                </a:gridCol>
                <a:gridCol w="3147238">
                  <a:extLst>
                    <a:ext uri="{9D8B030D-6E8A-4147-A177-3AD203B41FA5}">
                      <a16:colId xmlns:a16="http://schemas.microsoft.com/office/drawing/2014/main" val="1584898899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23855423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1446002406"/>
                    </a:ext>
                  </a:extLst>
                </a:gridCol>
                <a:gridCol w="3173702">
                  <a:extLst>
                    <a:ext uri="{9D8B030D-6E8A-4147-A177-3AD203B41FA5}">
                      <a16:colId xmlns:a16="http://schemas.microsoft.com/office/drawing/2014/main" val="2850214199"/>
                    </a:ext>
                  </a:extLst>
                </a:gridCol>
              </a:tblGrid>
              <a:tr h="307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PH" sz="2400" b="1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Issue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PH" sz="2400" b="1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Root Cause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PH" sz="2400" b="1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Affected Department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PH" sz="2400" b="1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Required Action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PH" sz="2400" b="1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Escalation Needed</a:t>
                      </a:r>
                    </a:p>
                  </a:txBody>
                  <a:tcPr marL="43941" marR="43941" marT="21971" marB="21971" anchor="ctr"/>
                </a:tc>
                <a:extLst>
                  <a:ext uri="{0D108BD9-81ED-4DB2-BD59-A6C34878D82A}">
                    <a16:rowId xmlns:a16="http://schemas.microsoft.com/office/drawing/2014/main" val="1543987947"/>
                  </a:ext>
                </a:extLst>
              </a:tr>
              <a:tr h="57123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PH" sz="240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LinisPlus</a:t>
                      </a:r>
                      <a:r>
                        <a:rPr lang="en-PH" sz="24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project on hold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PH" sz="24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Source code technical issues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PH" sz="24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IT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PH" sz="24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Evaluate project viability and determine next steps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PH" sz="24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Management Decision</a:t>
                      </a:r>
                    </a:p>
                  </a:txBody>
                  <a:tcPr marL="43941" marR="43941" marT="21971" marB="21971" anchor="ctr"/>
                </a:tc>
                <a:extLst>
                  <a:ext uri="{0D108BD9-81ED-4DB2-BD59-A6C34878D82A}">
                    <a16:rowId xmlns:a16="http://schemas.microsoft.com/office/drawing/2014/main" val="549986035"/>
                  </a:ext>
                </a:extLst>
              </a:tr>
              <a:tr h="57123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PH" sz="24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Printer Toner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PH" sz="24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Printer toner cost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PH" sz="24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All Department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PH" sz="24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Refill or purchase original toner</a:t>
                      </a:r>
                    </a:p>
                  </a:txBody>
                  <a:tcPr marL="43941" marR="43941" marT="21971" marB="2197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PH" sz="240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Management Decision</a:t>
                      </a:r>
                    </a:p>
                  </a:txBody>
                  <a:tcPr marL="43941" marR="43941" marT="21971" marB="21971" anchor="ctr"/>
                </a:tc>
                <a:extLst>
                  <a:ext uri="{0D108BD9-81ED-4DB2-BD59-A6C34878D82A}">
                    <a16:rowId xmlns:a16="http://schemas.microsoft.com/office/drawing/2014/main" val="257894382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89477" y="8595159"/>
            <a:ext cx="1169823" cy="1121736"/>
          </a:xfrm>
          <a:custGeom>
            <a:avLst/>
            <a:gdLst/>
            <a:ahLst/>
            <a:cxnLst/>
            <a:rect l="l" t="t" r="r" b="b"/>
            <a:pathLst>
              <a:path w="1169823" h="1121736">
                <a:moveTo>
                  <a:pt x="0" y="0"/>
                </a:moveTo>
                <a:lnTo>
                  <a:pt x="1169823" y="0"/>
                </a:lnTo>
                <a:lnTo>
                  <a:pt x="1169823" y="1121736"/>
                </a:lnTo>
                <a:lnTo>
                  <a:pt x="0" y="11217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51" t="-1040" b="-104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8595159"/>
            <a:ext cx="3485218" cy="981275"/>
          </a:xfrm>
          <a:custGeom>
            <a:avLst/>
            <a:gdLst/>
            <a:ahLst/>
            <a:cxnLst/>
            <a:rect l="l" t="t" r="r" b="b"/>
            <a:pathLst>
              <a:path w="3485218" h="981275">
                <a:moveTo>
                  <a:pt x="0" y="0"/>
                </a:moveTo>
                <a:lnTo>
                  <a:pt x="3485218" y="0"/>
                </a:lnTo>
                <a:lnTo>
                  <a:pt x="3485218" y="981275"/>
                </a:lnTo>
                <a:lnTo>
                  <a:pt x="0" y="981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1209675"/>
            <a:ext cx="16230600" cy="941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8000" b="1" spc="-688" dirty="0">
                <a:solidFill>
                  <a:srgbClr val="0542CD"/>
                </a:solidFill>
                <a:latin typeface="Poppins Bold"/>
                <a:ea typeface="Poppins Bold"/>
                <a:cs typeface="Poppins Bold"/>
                <a:sym typeface="Poppins Bold"/>
              </a:rPr>
              <a:t>ACTION PLANS </a:t>
            </a:r>
            <a:r>
              <a:rPr lang="en-US" sz="8000" b="1" spc="-688" dirty="0">
                <a:solidFill>
                  <a:srgbClr val="06266C"/>
                </a:solidFill>
                <a:latin typeface="Poppins Bold"/>
                <a:ea typeface="Poppins Bold"/>
                <a:cs typeface="Poppins Bold"/>
                <a:sym typeface="Poppins Bold"/>
              </a:rPr>
              <a:t>AND PROPOSALS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B23D506-572C-6ED6-BDD4-7328BF6345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849110"/>
              </p:ext>
            </p:extLst>
          </p:nvPr>
        </p:nvGraphicFramePr>
        <p:xfrm>
          <a:off x="1028700" y="2324101"/>
          <a:ext cx="16230600" cy="449070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1389310817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420696474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913692026"/>
                    </a:ext>
                  </a:extLst>
                </a:gridCol>
                <a:gridCol w="5829300">
                  <a:extLst>
                    <a:ext uri="{9D8B030D-6E8A-4147-A177-3AD203B41FA5}">
                      <a16:colId xmlns:a16="http://schemas.microsoft.com/office/drawing/2014/main" val="3788310497"/>
                    </a:ext>
                  </a:extLst>
                </a:gridCol>
              </a:tblGrid>
              <a:tr h="2940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200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Action Item</a:t>
                      </a:r>
                      <a:endParaRPr lang="en-PH" sz="22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200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Responsible Person</a:t>
                      </a:r>
                      <a:endParaRPr lang="en-PH" sz="22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200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Timeline</a:t>
                      </a:r>
                      <a:endParaRPr lang="en-PH" sz="22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200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Success Measure</a:t>
                      </a:r>
                      <a:endParaRPr lang="en-PH" sz="22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1918944506"/>
                  </a:ext>
                </a:extLst>
              </a:tr>
              <a:tr h="5990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2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Implement Canary Biometric wired connectivity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2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IT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2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August 2026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2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Stable internet connection for biometric access</a:t>
                      </a:r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3424746787"/>
                  </a:ext>
                </a:extLst>
              </a:tr>
              <a:tr h="5990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2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Establish data storage and backup process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2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Management/IT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2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2026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2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Company files properly backed up and organized</a:t>
                      </a:r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2829895343"/>
                  </a:ext>
                </a:extLst>
              </a:tr>
              <a:tr h="5990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2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Coordinate with SP Management regarding </a:t>
                      </a:r>
                      <a:r>
                        <a:rPr lang="en-PH" sz="220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LinisPlus</a:t>
                      </a:r>
                      <a:endParaRPr lang="en-PH" sz="22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2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Management / IT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2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2026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2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Clear project direction and status confirmed</a:t>
                      </a:r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800202219"/>
                  </a:ext>
                </a:extLst>
              </a:tr>
              <a:tr h="778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2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Continue IT project monitoring and support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2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IT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2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Ongoing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2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Projects are monitored and progress is properly tracked</a:t>
                      </a:r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2532257961"/>
                  </a:ext>
                </a:extLst>
              </a:tr>
              <a:tr h="8640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2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Improve project tracking and transition monitoring through ITPMS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20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IT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2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Ongoing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2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Project updates, status, and progress are properly monitored: </a:t>
                      </a:r>
                      <a:r>
                        <a:rPr lang="en-PH" sz="2200" dirty="0">
                          <a:solidFill>
                            <a:schemeClr val="tx2">
                              <a:lumMod val="50000"/>
                            </a:schemeClr>
                          </a:solidFill>
                          <a:hlinkClick r:id="rId4"/>
                        </a:rPr>
                        <a:t>https://itpms.infinityfreeapp.com/index.php</a:t>
                      </a:r>
                      <a:endParaRPr lang="en-PH" sz="22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421417704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07292" y="-309326"/>
            <a:ext cx="20102584" cy="10905652"/>
          </a:xfrm>
          <a:custGeom>
            <a:avLst/>
            <a:gdLst/>
            <a:ahLst/>
            <a:cxnLst/>
            <a:rect l="l" t="t" r="r" b="b"/>
            <a:pathLst>
              <a:path w="20102584" h="10905652">
                <a:moveTo>
                  <a:pt x="0" y="0"/>
                </a:moveTo>
                <a:lnTo>
                  <a:pt x="20102584" y="0"/>
                </a:lnTo>
                <a:lnTo>
                  <a:pt x="20102584" y="10905652"/>
                </a:lnTo>
                <a:lnTo>
                  <a:pt x="0" y="109056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3033210"/>
            <a:ext cx="9786995" cy="469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944"/>
              </a:lnSpc>
            </a:pPr>
            <a:r>
              <a:rPr lang="en-US" sz="19934" b="1" spc="-1714">
                <a:solidFill>
                  <a:srgbClr val="093FB4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</p:spTree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623</TotalTime>
  <Words>572</Words>
  <Application>Microsoft Office PowerPoint</Application>
  <PresentationFormat>Custom</PresentationFormat>
  <Paragraphs>140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Poppins Bold</vt:lpstr>
      <vt:lpstr>Arial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SPLSC MANCOM</dc:title>
  <cp:lastModifiedBy>Eris SavePlus</cp:lastModifiedBy>
  <cp:revision>4</cp:revision>
  <dcterms:created xsi:type="dcterms:W3CDTF">2006-08-16T00:00:00Z</dcterms:created>
  <dcterms:modified xsi:type="dcterms:W3CDTF">2026-08-14T09:53:57Z</dcterms:modified>
  <dc:identifier>DAHLdbBqAM8</dc:identifier>
</cp:coreProperties>
</file>